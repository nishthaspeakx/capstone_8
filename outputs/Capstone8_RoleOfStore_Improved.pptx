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bubble3D val="0"/>
            <c:spPr>
              <a:solidFill>
                <a:srgbClr val="43A047"/>
              </a:solidFill>
              <a:effectLst/>
            </c:spPr>
          </c:dPt>
          <c:dPt>
            <c:idx val="2"/>
            <c:bubble3D val="0"/>
            <c:spPr>
              <a:solidFill>
                <a:srgbClr val="757575"/>
              </a:solidFill>
              <a:effectLst/>
            </c:spPr>
          </c:dPt>
          <c:dPt>
            <c:idx val="3"/>
            <c:bubble3D val="0"/>
            <c:spPr>
              <a:solidFill>
                <a:srgbClr val="FF8F00"/>
              </a:solidFill>
              <a:effectLst/>
            </c:spPr>
          </c:dPt>
          <c:dPt>
            <c:idx val="4"/>
            <c:bubble3D val="0"/>
            <c:spPr>
              <a:solidFill>
                <a:srgbClr val="C6282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High Growth</c:v>
                </c:pt>
                <c:pt idx="1">
                  <c:v>Growth</c:v>
                </c:pt>
                <c:pt idx="2">
                  <c:v>Neutral</c:v>
                </c:pt>
                <c:pt idx="3">
                  <c:v>Maintain</c:v>
                </c:pt>
                <c:pt idx="4">
                  <c:v>Defend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346</c:v>
                </c:pt>
                <c:pt idx="1">
                  <c:v>345</c:v>
                </c:pt>
                <c:pt idx="2">
                  <c:v>345</c:v>
                </c:pt>
                <c:pt idx="3">
                  <c:v>346</c:v>
                </c:pt>
                <c:pt idx="4">
                  <c:v>345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33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77BD"/>
                </a:solidFill>
              </a:rPr>
              <a:t>SECTION 06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Role-of-Store — one model, five planning playbooks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</a:rPr>
              <a:t>Every store gets a planning role based on growth signals + model bias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2011680"/>
          <a:ext cx="51206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6309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</a:rPr>
              <a:t>1,727 stores · ~20% each — quantile-based segmentation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89320" y="2011680"/>
            <a:ext cx="585216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2011680"/>
            <a:ext cx="109728" cy="76809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6"/>
          <p:cNvSpPr/>
          <p:nvPr/>
        </p:nvSpPr>
        <p:spPr>
          <a:xfrm>
            <a:off x="6263640" y="208483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087"/>
                </a:solidFill>
              </a:rPr>
              <a:t>High Growth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63640" y="23957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</a:rPr>
              <a:t>Expanding market + store outperforming → raise targets aggressively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89320" y="2926080"/>
            <a:ext cx="585216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89320" y="2926080"/>
            <a:ext cx="109728" cy="768096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3" name="Text 10"/>
          <p:cNvSpPr/>
          <p:nvPr/>
        </p:nvSpPr>
        <p:spPr>
          <a:xfrm>
            <a:off x="6263640" y="299923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087"/>
                </a:solidFill>
              </a:rPr>
              <a:t>Growth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63640" y="33101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</a:rPr>
              <a:t>Positive market signals + store running ahead of pace → push target up moderately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89320" y="3840480"/>
            <a:ext cx="585216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9320" y="3840480"/>
            <a:ext cx="109728" cy="768096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17" name="Text 14"/>
          <p:cNvSpPr/>
          <p:nvPr/>
        </p:nvSpPr>
        <p:spPr>
          <a:xfrm>
            <a:off x="6263640" y="391363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087"/>
                </a:solidFill>
              </a:rPr>
              <a:t>Neutral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63640" y="42245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</a:rPr>
              <a:t>Balanced profile, no strong signal either way → use the standard data-driven target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4754880"/>
            <a:ext cx="585216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89320" y="4754880"/>
            <a:ext cx="109728" cy="768096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21" name="Text 18"/>
          <p:cNvSpPr/>
          <p:nvPr/>
        </p:nvSpPr>
        <p:spPr>
          <a:xfrm>
            <a:off x="6263640" y="482803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087"/>
                </a:solidFill>
              </a:rPr>
              <a:t>Maintain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263640" y="5138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</a:rPr>
              <a:t>Aging market, steady demand → hold targets, monitor for change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989320" y="5669280"/>
            <a:ext cx="585216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A1F44">
                <a:alpha val="1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989320" y="5669280"/>
            <a:ext cx="109728" cy="76809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5" name="Text 22"/>
          <p:cNvSpPr/>
          <p:nvPr/>
        </p:nvSpPr>
        <p:spPr>
          <a:xfrm>
            <a:off x="6263640" y="574243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087"/>
                </a:solidFill>
              </a:rPr>
              <a:t>Defend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263640" y="6053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</a:rPr>
              <a:t>High competition + underperforming → conservative target, protect share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Capstone 8 · Group 8 · IIM Calcutta APAL02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076895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Role-of-Store · improved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Role-of-Store Segmentation — improved</dc:title>
  <dc:subject>PptxGenJS Presentation</dc:subject>
  <dc:creator>Group 8 — IIM Calcutta APAL02</dc:creator>
  <cp:lastModifiedBy>Group 8 — IIM Calcutta APAL02</cp:lastModifiedBy>
  <cp:revision>1</cp:revision>
  <dcterms:created xsi:type="dcterms:W3CDTF">2026-06-28T16:37:14Z</dcterms:created>
  <dcterms:modified xsi:type="dcterms:W3CDTF">2026-06-28T16:37:14Z</dcterms:modified>
</cp:coreProperties>
</file>