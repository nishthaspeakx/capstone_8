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CAPSTONE 8 —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Lowe's targets miss reality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669280" cy="5029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3087"/>
                </a:solidFill>
              </a:rPr>
              <a:t>Lowe's is a leading U.S. home-improvement retailer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A6B7B"/>
                </a:solidFill>
              </a:rPr>
              <a:t>~1,727 stores  ·  ~$85B annual revenue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3087"/>
                </a:solidFill>
              </a:rPr>
              <a:t>How they set store targets today: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A2332"/>
                </a:solidFill>
              </a:rPr>
              <a:t>The total company plan is divided across all stores using each store's 3-year historical sales share — a flat “peanut-butter spread.”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3087"/>
                </a:solidFill>
              </a:rPr>
              <a:t>The flaw: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332"/>
                </a:solidFill>
              </a:rPr>
              <a:t>It ignores LOCAL market dynamics — population growth, income shifts, housing age, competitive pressure.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003087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78308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4B400"/>
                </a:solidFill>
              </a:rPr>
              <a:t>25.83%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400800" y="28803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of store-weeks miss target by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more than ±10% today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84048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3840480"/>
            <a:ext cx="52578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we are solving for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448056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Replace the flat heuristic with a supervised ML model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Set store-specific targets that reflect local conditions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Diagnose under/over-targeted stores per cycle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Cut planner override workload meaningfully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Slide 1 of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OUR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165 raw features to a final 16-feature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4434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874520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</a:rPr>
              <a:t>Raw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</a:rPr>
              <a:t>194 cols, 269K rows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1,727 stores × 52 wks × 3 yrs (FY23–FY25)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Demographics, competition, sales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Filtered identity &amp; leakage cols → 165 candidates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98064" y="1691640"/>
            <a:ext cx="2103120" cy="4434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1874520"/>
            <a:ext cx="548640" cy="54864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89504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7BD"/>
                </a:solidFill>
              </a:rPr>
              <a:t>Phase 1 Feature 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9504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</a:rPr>
              <a:t>165 → 40 features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80944" y="33832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Removed redundant distance bands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Dropped zero-variance competitors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Selected by business-relevance + correlation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47488" y="1691640"/>
            <a:ext cx="2103120" cy="4434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24728" y="1874520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58247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38928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First Iteration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38928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</a:rPr>
              <a:t>40-feature XGBoost run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30368" y="33832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WAPE 6.21%, Bias −2.53%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Identified multicollinearity (rolling features dominated 94%)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Market signals were masked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59168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296912" y="1691640"/>
            <a:ext cx="2103120" cy="4434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74152" y="18745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807415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88352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Reduce to 16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88352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</a:rPr>
              <a:t>Business-relevance trim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79792" y="33832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Dropped roll_4, roll_13, Year, Fiscal Week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Collapsed 8 income brackets → 3 strategic ones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Collapsed 9 housing decades → 2 shares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08592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546336" y="1691640"/>
            <a:ext cx="2103120" cy="4434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323576" y="1874520"/>
            <a:ext cx="548640" cy="54864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34" name="Text 32"/>
          <p:cNvSpPr/>
          <p:nvPr/>
        </p:nvSpPr>
        <p:spPr>
          <a:xfrm>
            <a:off x="1032357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637776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Final Output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37776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</a:rPr>
              <a:t>Production model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29216" y="33832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WAPE 7.05%, Bias −0.97% (near-zero!)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94.7% stores well-calibrated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Override workload: 1,727 → 91 stores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6263640"/>
            <a:ext cx="11064240" cy="164592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26364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Total of 3 modeling iterations  ·  Each step validated on the holdout set  ·  Driven by both data signals and business interpretability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Slide 2 of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OUTPUT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final model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103120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</a:rPr>
              <a:t>7.05%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WAPE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Target &lt; 8%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98064" y="15544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98064" y="1554480"/>
            <a:ext cx="2103120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2798064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</a:rPr>
              <a:t>−0.97%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98064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Bias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98064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Within ±2%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15544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47488" y="1554480"/>
            <a:ext cx="2103120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</a:rPr>
              <a:t>0.977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47488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R²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47488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Target &gt; 0.88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96912" y="15544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96912" y="1554480"/>
            <a:ext cx="2103120" cy="8229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96912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</a:rPr>
              <a:t>94.7%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96912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Calibrated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96912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1,636 / 1,727 stores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46336" y="15544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46336" y="1554480"/>
            <a:ext cx="2103120" cy="82296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6" name="Text 24"/>
          <p:cNvSpPr/>
          <p:nvPr/>
        </p:nvSpPr>
        <p:spPr>
          <a:xfrm>
            <a:off x="9546336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</a:rPr>
              <a:t>15%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546336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vs Naive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46336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Beats lag-52 baseline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383280"/>
            <a:ext cx="548640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383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Store-Level Accuracy Loop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</a:rPr>
              <a:t>1,636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85800" y="4617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</a:rPr>
              <a:t>Well-Calibrated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87168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</a:rPr>
              <a:t>60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2487168" y="4617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</a:rPr>
              <a:t>Under-Targeted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88536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</a:rPr>
              <a:t>31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4288536" y="4617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</a:rPr>
              <a:t>Over-Targeted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2120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332"/>
                </a:solidFill>
              </a:rPr>
              <a:t>Only 91 stores need planner review — a ~95% workload reduction vs. chain-wide manual re-planning today.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38328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3383280"/>
            <a:ext cx="548640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383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Role-of-Store — 5 Strategic Segments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355080" y="3977640"/>
            <a:ext cx="13716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3959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High Growth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78240" y="39593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346 stores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332720" y="39593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</a:rPr>
              <a:t>20%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4398264"/>
            <a:ext cx="137160" cy="2743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43799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Growth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78240" y="43799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345 stores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332720" y="4379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</a:rPr>
              <a:t>20%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4818888"/>
            <a:ext cx="137160" cy="27432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4800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Neutral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78240" y="4800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345 stores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332720" y="4800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</a:rPr>
              <a:t>20%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55080" y="5239512"/>
            <a:ext cx="137160" cy="27432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52212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Maintain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778240" y="52212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346 stores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332720" y="52212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</a:rPr>
              <a:t>20%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55080" y="5660136"/>
            <a:ext cx="13716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0" y="56418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Defend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778240" y="56418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345 stores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332720" y="5641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</a:rPr>
              <a:t>20%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Slide 3 of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Definitions — features &amp; acronyms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76656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16 Features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6309360" cy="38862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16052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A6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lag_1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Store's sales 1 week ago (strongest predictor)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lag_4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Sales 4 weeks ago — monthly rhythm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lag_13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Sales 13 weeks ago — quarterly rhythm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lag_52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Sales 52 weeks ago — annual seasonality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Urbanicity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Density tier (Metropolis → Remote, 7 levels)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CYE Total Households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Households in store's trade area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HH Density / SqMi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Households per square mile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Median HH Income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Trade-area median income (purchasing power)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Total Housing Units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All housing incl. vacant &amp; new construction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Total Population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Trade-area population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income_affluent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% households earning $150K+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housing_old_share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% homes built pre-1969 (repair demand)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housing_new_share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% homes built post-2000 (new-build demand)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Sister Store Count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Other Lowe's stores in trade area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total_competitor_ta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Sum of all 17 competitor counts in trade area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Wallflowers Depot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Most-prevalent competitor count (TA)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52360" y="1554480"/>
            <a:ext cx="420624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Acronyms &amp; Metrics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148840"/>
          <a:ext cx="3794760" cy="3886200"/>
        </p:xfrm>
        <a:graphic>
          <a:graphicData uri="http://schemas.openxmlformats.org/drawingml/2006/table">
            <a:tbl>
              <a:tblPr/>
              <a:tblGrid>
                <a:gridCol w="868680"/>
                <a:gridCol w="2926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A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WAPE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Weighted Absolute % Error — dollar-weighted accuracy metric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Bias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Systematic over/under-prediction; (ΣPred−ΣAct)/ΣAct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R²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Share of sales variance explained by model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RMSE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Root Mean Squared Error — typical $ miss per week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CYE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Current Year Estimate (Census-based demographics)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Household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Trade Area — store's primary sales-catchment geography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CBSA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Core-Based Statistical Area (US Census)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XGBoost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Extreme Gradient Boosting — ensemble tree algorithm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Lag_n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Sales value shifted back by n weeks (no leakage)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Fiscal Year (52 fiscal weeks)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Holdout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Test set the model never saw during training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Slide 4 of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Lowe's Store-Level Sales Target — Professor Summary</dc:title>
  <dc:subject>PptxGenJS Presentation</dc:subject>
  <dc:creator>Group 8 — IIM Calcutta APAL02</dc:creator>
  <cp:lastModifiedBy>Group 8 — IIM Calcutta APAL02</cp:lastModifiedBy>
  <cp:revision>1</cp:revision>
  <dcterms:created xsi:type="dcterms:W3CDTF">2026-06-01T05:18:15Z</dcterms:created>
  <dcterms:modified xsi:type="dcterms:W3CDTF">2026-06-01T05:18:15Z</dcterms:modified>
</cp:coreProperties>
</file>