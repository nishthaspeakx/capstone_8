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%</c:v>
                </c:pt>
              </c:strCache>
            </c:strRef>
          </c:tx>
          <c:spPr>
            <a:solidFill>
              <a:srgbClr val="00308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lag_1</c:v>
                  </c:pt>
                  <c:pt idx="1">
                    <c:v>lag_4</c:v>
                  </c:pt>
                  <c:pt idx="2">
                    <c:v>lag_52</c:v>
                  </c:pt>
                  <c:pt idx="3">
                    <c:v>Wallflowers Depot</c:v>
                  </c:pt>
                  <c:pt idx="4">
                    <c:v>lag_13</c:v>
                  </c:pt>
                  <c:pt idx="5">
                    <c:v>housing_new_share</c:v>
                  </c:pt>
                  <c:pt idx="6">
                    <c:v>Total Population</c:v>
                  </c:pt>
                  <c:pt idx="7">
                    <c:v>Median Income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62.22</c:v>
                </c:pt>
                <c:pt idx="1">
                  <c:v>29.63</c:v>
                </c:pt>
                <c:pt idx="2">
                  <c:v>3.14</c:v>
                </c:pt>
                <c:pt idx="3">
                  <c:v>0.7</c:v>
                </c:pt>
                <c:pt idx="4">
                  <c:v>0.55</c:v>
                </c:pt>
                <c:pt idx="5">
                  <c:v>0.4</c:v>
                </c:pt>
                <c:pt idx="6">
                  <c:v>0.39</c:v>
                </c:pt>
                <c:pt idx="7">
                  <c:v>0.38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43A047"/>
              </a:solidFill>
              <a:effectLst/>
            </c:spPr>
          </c:dPt>
          <c:dPt>
            <c:idx val="2"/>
            <c:bubble3D val="0"/>
            <c:spPr>
              <a:solidFill>
                <a:srgbClr val="757575"/>
              </a:solidFill>
              <a:effectLst/>
            </c:spPr>
          </c:dPt>
          <c:dPt>
            <c:idx val="3"/>
            <c:bubble3D val="0"/>
            <c:spPr>
              <a:solidFill>
                <a:srgbClr val="FF8F00"/>
              </a:solidFill>
              <a:effectLst/>
            </c:spPr>
          </c:dPt>
          <c:dPt>
            <c:idx val="4"/>
            <c:bubble3D val="0"/>
            <c:spPr>
              <a:solidFill>
                <a:srgbClr val="C6282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High Growth</c:v>
                </c:pt>
                <c:pt idx="1">
                  <c:v>Growth</c:v>
                </c:pt>
                <c:pt idx="2">
                  <c:v>Neutral</c:v>
                </c:pt>
                <c:pt idx="3">
                  <c:v>Maintain</c:v>
                </c:pt>
                <c:pt idx="4">
                  <c:v>Defend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346</c:v>
                </c:pt>
                <c:pt idx="1">
                  <c:v>345</c:v>
                </c:pt>
                <c:pt idx="2">
                  <c:v>345</c:v>
                </c:pt>
                <c:pt idx="3">
                  <c:v>346</c:v>
                </c:pt>
                <c:pt idx="4">
                  <c:v>345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33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011680"/>
            <a:ext cx="5943600" cy="5943600"/>
          </a:xfrm>
          <a:prstGeom prst="ellipse">
            <a:avLst/>
          </a:prstGeom>
          <a:solidFill>
            <a:srgbClr val="012A6E"/>
          </a:solidFill>
          <a:ln/>
        </p:spPr>
      </p:sp>
      <p:sp>
        <p:nvSpPr>
          <p:cNvPr id="4" name="Shape 2"/>
          <p:cNvSpPr/>
          <p:nvPr/>
        </p:nvSpPr>
        <p:spPr>
          <a:xfrm>
            <a:off x="9814255" y="3108960"/>
            <a:ext cx="3840480" cy="3840480"/>
          </a:xfrm>
          <a:prstGeom prst="ellipse">
            <a:avLst/>
          </a:prstGeom>
          <a:solidFill>
            <a:srgbClr val="0277B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</a:rPr>
              <a:t>CAPSTONE 8  ·  GROUP 8  ·  IIM CALCUTTA  ·  APAL02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Lowe's Store-Level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Target Model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Replacing the “peanut-butter spread” with a supervised ML model that learns local market dynamics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617720"/>
            <a:ext cx="1883664" cy="457200"/>
          </a:xfrm>
          <a:prstGeom prst="roundRect">
            <a:avLst>
              <a:gd name="adj" fmla="val 50000"/>
            </a:avLst>
          </a:prstGeom>
          <a:solidFill>
            <a:srgbClr val="012A6E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6177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1,727 Stores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880" y="4617720"/>
            <a:ext cx="1764792" cy="457200"/>
          </a:xfrm>
          <a:prstGeom prst="roundRect">
            <a:avLst>
              <a:gd name="adj" fmla="val 50000"/>
            </a:avLst>
          </a:prstGeom>
          <a:solidFill>
            <a:srgbClr val="012A6E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46177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16 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4617720"/>
            <a:ext cx="1289304" cy="457200"/>
          </a:xfrm>
          <a:prstGeom prst="roundRect">
            <a:avLst>
              <a:gd name="adj" fmla="val 50000"/>
            </a:avLst>
          </a:prstGeom>
          <a:solidFill>
            <a:srgbClr val="012A6E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461772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XGBoost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4617720"/>
            <a:ext cx="2002536" cy="457200"/>
          </a:xfrm>
          <a:prstGeom prst="roundRect">
            <a:avLst>
              <a:gd name="adj" fmla="val 50000"/>
            </a:avLst>
          </a:prstGeom>
          <a:solidFill>
            <a:srgbClr val="012A6E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461772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FY2023–FY2025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46177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012A6E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4617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7.05% WAPE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 data-driven store-targeting tool  ·  github.com/nishthaspeakx/capstone_8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targets ignore local reality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3087"/>
                </a:solidFill>
              </a:rPr>
              <a:t>How Lowe's sets targets now: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2332"/>
                </a:solidFill>
              </a:rPr>
              <a:t>the total company plan is divided across ~1,727 stores using each store's 3-year historical sales share — a flat “peanut-butter spread.”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64008" cy="548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803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</a:rPr>
              <a:t>A booming new-construction suburb gets the SAME growth rate as a declining rural town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93592"/>
            <a:ext cx="64008" cy="548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93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</a:rPr>
              <a:t>Demographic shifts, housing age, income, competition — all invisible to the method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306824"/>
            <a:ext cx="64008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30682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</a:rPr>
              <a:t>Planners spend the entire year manually overriding wrong targets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0" y="160020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003087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0" y="18745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B400"/>
                </a:solidFill>
              </a:rPr>
              <a:t>25.83%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7680960" y="30632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of store-weeks miss target by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more than ±10% under the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current method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4526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</a:rPr>
              <a:t>That's 1 in 4 store-weeks needing re-planning.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The 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supervised model + an accuracy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057400"/>
            <a:ext cx="640080" cy="640080"/>
          </a:xfrm>
          <a:prstGeom prst="ellipse">
            <a:avLst/>
          </a:prstGeom>
          <a:solidFill>
            <a:srgbClr val="003087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77BD"/>
                </a:solidFill>
              </a:rPr>
              <a:t>Learn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332"/>
                </a:solidFill>
              </a:rPr>
              <a:t>Train a supervised model on 269,412 store-week records to learn how local market + recent performance drive sales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9067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77BD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2057400"/>
            <a:ext cx="640080" cy="640080"/>
          </a:xfrm>
          <a:prstGeom prst="ellipse">
            <a:avLst/>
          </a:prstGeom>
          <a:solidFill>
            <a:srgbClr val="003087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84448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77BD"/>
                </a:solidFill>
              </a:rPr>
              <a:t>Predict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0168" y="33375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332"/>
                </a:solidFill>
              </a:rPr>
              <a:t>Generate store-specific, data-driven sales targets — not a flat chain-wide rate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77BD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54496" y="178308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60336" y="2057400"/>
            <a:ext cx="640080" cy="640080"/>
          </a:xfrm>
          <a:prstGeom prst="ellipse">
            <a:avLst/>
          </a:prstGeom>
          <a:solidFill>
            <a:srgbClr val="003087"/>
          </a:solidFill>
          <a:ln/>
        </p:spPr>
      </p:sp>
      <p:sp>
        <p:nvSpPr>
          <p:cNvPr id="18" name="Text 16"/>
          <p:cNvSpPr/>
          <p:nvPr/>
        </p:nvSpPr>
        <p:spPr>
          <a:xfrm>
            <a:off x="726033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37376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77BD"/>
                </a:solidFill>
              </a:rPr>
              <a:t>Diagnose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83096" y="33375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332"/>
                </a:solidFill>
              </a:rPr>
              <a:t>Store-Level Accuracy Loop flags exactly which stores are under- or over-targeted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9652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77BD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07424" y="178308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13264" y="2057400"/>
            <a:ext cx="640080" cy="640080"/>
          </a:xfrm>
          <a:prstGeom prst="ellipse">
            <a:avLst/>
          </a:prstGeom>
          <a:solidFill>
            <a:srgbClr val="003087"/>
          </a:solidFill>
          <a:ln/>
        </p:spPr>
      </p:sp>
      <p:sp>
        <p:nvSpPr>
          <p:cNvPr id="24" name="Text 22"/>
          <p:cNvSpPr/>
          <p:nvPr/>
        </p:nvSpPr>
        <p:spPr>
          <a:xfrm>
            <a:off x="1011326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90304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77BD"/>
                </a:solidFill>
              </a:rPr>
              <a:t>Act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36024" y="33375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332"/>
                </a:solidFill>
              </a:rPr>
              <a:t>Role-of-Store segmentation turns one model into 5 planning playbooks for surgical overrides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Approach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269,412 store-weeks, fully validated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087"/>
                </a:solidFill>
              </a:rPr>
              <a:t>269,412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</a:rPr>
              <a:t>Store-week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087"/>
                </a:solidFill>
              </a:rPr>
              <a:t>1,727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01568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</a:rPr>
              <a:t>Unique stores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087"/>
                </a:solidFill>
              </a:rPr>
              <a:t>3 years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54496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</a:rPr>
              <a:t>FY2023–FY2025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07424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087"/>
                </a:solidFill>
              </a:rPr>
              <a:t>16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07424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</a:rPr>
              <a:t>Final 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87"/>
                </a:solidFill>
              </a:rPr>
              <a:t>Data integrity checks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Rolling time-based split — train on the past, test on the future (no temporal leakage)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480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Holdout: 19 Sep 2025 → 30 Jan 2026 (Q4 FY2025), 22,439 rows, all 1,727 stores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937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Leakage blacklist: Plan Sales USD, Invoice Count, Avg Ticket never used as inputs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Dataset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16 features — by group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51760" cy="50292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Lag / Momentum (4)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lag_1 · last week (corr 0.98)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lag_4 · monthly rhythm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lag_13 · quarterly rhythm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lag_52 · annual seasonality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16916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1691640"/>
            <a:ext cx="2651760" cy="50292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Demand — Raw (5)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CYE Total Households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Household Density / SqMi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Median Household Income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Total Housing Units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Total Population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16916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54496" y="1691640"/>
            <a:ext cx="265176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Demand — Engineered (3)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19088" y="233172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income_affluent ($150K+)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housing_new_share (post-2000)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housing_old_share (pre-1969)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07424" y="16916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07424" y="1691640"/>
            <a:ext cx="265176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9198864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Competition + Store (4)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72016" y="233172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Sister Store Count (TA)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total_competitor_ta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Wallflowers Depot (TA)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Urbanicity (encoded)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3087"/>
                </a:solidFill>
              </a:rPr>
              <a:t>We deliberately dropped roll_4, roll_13, Year &amp; Fiscal Week — they were so dominant (~94% importance) they masked every market signal. Result: bias improved to −0.97%.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16 Features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THE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models, benchmarked head-to-head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73152" cy="10789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087"/>
                </a:solidFill>
              </a:rPr>
              <a:t>XGBoost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24942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9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1810512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Sequential boosted trees. Best WAPE + near-zero bias. Captures non-linear market interactions automatically.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852928"/>
            <a:ext cx="73152" cy="1078992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626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087"/>
                </a:solidFill>
              </a:rPr>
              <a:t>LightGBM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22960" y="34564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277B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564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ROBUSTNESS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017520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Leaf-wise boosting, faster on big data. Near-identical score — cross-validates the result is real, not a fluke.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059936"/>
            <a:ext cx="73152" cy="1078992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696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087"/>
                </a:solidFill>
              </a:rPr>
              <a:t>Ridge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22960" y="46634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8E24A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663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LINEAR CONTROL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4224528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L2-regularized linear regression. Sanity check: is the non-linear model even necessary? (It is.)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266944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5266944"/>
            <a:ext cx="73152" cy="1078992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76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087"/>
                </a:solidFill>
              </a:rPr>
              <a:t>Naive (lag-52)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822960" y="587044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A6B7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8704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5431536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This week = same week last year. The bar every real model must clear. We beat it by 15%.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Models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B400"/>
                </a:solidFill>
              </a:rPr>
              <a:t>THE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gradient boosting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0277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Tree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78308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Makes a rough prediction; we measure the error (residual) for every row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4597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0277B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Tree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269748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Trained on Tree 1's errors — it learns where Tree 1 was wrong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0277B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118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Tree 3…500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361188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Each new tree corrects what all previous trees still get wrong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2885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0277B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262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452628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Prediction = Tree1 + 0.05×Tree2 + 0.05×Tree3 + … (small steps avoid overshooting)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Formally: Fₘ(x) = Fₘ₋₁(x) + ν·hₘ(x), where hₘ fits the negative gradient of the loss — with squared error, that gradient IS the residual. Trees capture “if-and-and” interactions a linear model cannot.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success criterion met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2084832" cy="822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7.05%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32"/>
                </a:solidFill>
              </a:rPr>
              <a:t>WAPE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Target &lt; 8%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98064" y="1645920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98064" y="1645920"/>
            <a:ext cx="2084832" cy="822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2798064" y="18288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−0.97%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98064" y="251460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32"/>
                </a:solidFill>
              </a:rPr>
              <a:t>Bias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98064" y="290779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Within ±2%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1645920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47488" y="1645920"/>
            <a:ext cx="2084832" cy="822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18288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0.977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47488" y="251460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32"/>
                </a:solidFill>
              </a:rPr>
              <a:t>R²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47488" y="290779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Target &gt; 0.88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96912" y="1645920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96912" y="1645920"/>
            <a:ext cx="2084832" cy="82296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1" name="Text 19"/>
          <p:cNvSpPr/>
          <p:nvPr/>
        </p:nvSpPr>
        <p:spPr>
          <a:xfrm>
            <a:off x="7296912" y="18288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15%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96912" y="251460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32"/>
                </a:solidFill>
              </a:rPr>
              <a:t>Better vs Naive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6912" y="290779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vs 8.27%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46336" y="1645920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46336" y="1645920"/>
            <a:ext cx="2084832" cy="82296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6" name="Text 24"/>
          <p:cNvSpPr/>
          <p:nvPr/>
        </p:nvSpPr>
        <p:spPr>
          <a:xfrm>
            <a:off x="9546336" y="18288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</a:rPr>
              <a:t>94.7%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546336" y="251460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32"/>
                </a:solidFill>
              </a:rPr>
              <a:t>Stores Calibrated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46336" y="290779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1,636 / 1,727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246888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Bias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XGBoost (selected)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7.05%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−0.97%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0.977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LightGBM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7.07%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−1.11%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0.977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Ridge Regression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7.11%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+0.39%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0.978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Naive (lag-52)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8.27%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+0.33%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</a:rPr>
                        <a:t>0.965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Results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WHAT DRIVES PREDICTIONS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— interpretable by design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45920"/>
            <a:ext cx="3931920" cy="4480560"/>
          </a:xfrm>
          <a:prstGeom prst="roundRect">
            <a:avLst>
              <a:gd name="adj" fmla="val 1860"/>
            </a:avLst>
          </a:prstGeom>
          <a:solidFill>
            <a:srgbClr val="003087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</a:rPr>
              <a:t>How to read this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09560" y="2331720"/>
            <a:ext cx="3520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CADCFC"/>
                </a:solidFill>
              </a:rPr>
              <a:t>lag_1 + lag_4 lead — recent store performance is the backbone of any short-horizon forecast.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CADCFC"/>
                </a:solidFill>
              </a:rPr>
              <a:t>After lags, competition + housing + income earn a meaningful, interpretable share.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Planners distrust black boxes — a 16-feature model they can read and defend builds trust.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Feature Importance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THE KEY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Store-Level Accuracy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Instead of one global score that hides offsetting errors, we compute per-store WAPE, Bias &amp; quarterly bias — then classify every store for surgical planner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423160"/>
            <a:ext cx="3566160" cy="91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</a:rPr>
              <a:t>1,636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</a:rPr>
              <a:t>Well-Calibrated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</a:rPr>
              <a:t>Within ±5% — trust the target directly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5968" y="2423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2423160"/>
            <a:ext cx="3566160" cy="91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15968" y="2606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5100"/>
                </a:solidFill>
              </a:rPr>
              <a:t>60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315968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</a:rPr>
              <a:t>Under-Targeted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8848" y="3886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</a:rPr>
              <a:t>Bias &lt; −5% — store sandbagged, raise target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2423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83296" y="2423160"/>
            <a:ext cx="356616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8083296" y="2606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</a:rPr>
              <a:t>31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083296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</a:rPr>
              <a:t>Over-Targeted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66176" y="3886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</a:rPr>
              <a:t>Bias &gt; +5% — too aggressive, review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983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3087"/>
                </a:solidFill>
              </a:rPr>
              <a:t>Result: only ~91 stores need human review — vs. chain-wide manual re-planning today. This is the core business value.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Accuracy Loop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STRATEGIC OVERLAY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Role-of-Store — five strategic segments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4754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78308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1783080"/>
            <a:ext cx="82296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</a:rPr>
              <a:t>High Growth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97880" y="2221992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Expanding market + store outperforming → raise targets aggressively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2843784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843784"/>
            <a:ext cx="82296" cy="9144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1" name="Text 8"/>
          <p:cNvSpPr/>
          <p:nvPr/>
        </p:nvSpPr>
        <p:spPr>
          <a:xfrm>
            <a:off x="5897880" y="29352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</a:rPr>
              <a:t>Growth / Neutral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897880" y="3282696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Moderate or stable signals → standard data-driven target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0" y="3904488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3904488"/>
            <a:ext cx="82296" cy="91440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5" name="Text 12"/>
          <p:cNvSpPr/>
          <p:nvPr/>
        </p:nvSpPr>
        <p:spPr>
          <a:xfrm>
            <a:off x="5897880" y="3995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</a:rPr>
              <a:t>Maintain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97880" y="434340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Aging market, steady demand → hold targets, monitor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0" y="4965192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4965192"/>
            <a:ext cx="82296" cy="9144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6"/>
          <p:cNvSpPr/>
          <p:nvPr/>
        </p:nvSpPr>
        <p:spPr>
          <a:xfrm>
            <a:off x="5897880" y="5056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</a:rPr>
              <a:t>Defend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897880" y="5404104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High competition + underperforming → conservative, protect share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Role-of-Store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MODEL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kept the model honest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54864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Leakage Prevention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Plan Sales USD (corr 0.986) — banned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Invoice Count (corr 0.972) — banned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Avg Ticket (corr 0.133) — banned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All lags use shift(1) minimum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691640"/>
            <a:ext cx="3566160" cy="54864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Time-Based Validation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4568" y="2395728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Rolling split, never random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Train on past, test on future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22,439 holdout rows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All 1,727 stores represented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691640"/>
            <a:ext cx="3566160" cy="54864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0456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Multicollinearity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11896" y="2395728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8 income brackets → 1 strategic feature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9 housing decades → 2 features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Avoids unstable redundant inputs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</a:rPr>
              <a:t>Each feature = a business concept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Methodology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REFLECTIONS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 &amp; where we go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worked well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Leakage-safe lag features turned a hard problem tractable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Trimming to 16 features improved bias AND explainability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The Accuracy Loop is the real differentiator vs. a generic forecast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3 model families agreeing at ~7% = robust, not a fluke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691640"/>
            <a:ext cx="5303520" cy="50292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91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Recursive multi-week forecasting for next-FY targets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Cold-start model for new stores (no lag history)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Constrained optimization so targets sum to division plan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Pilot on West Division → measure override-rate drop → scale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Lowe's Sales Target Model  |  Reflections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5029200" cy="5029200"/>
          </a:xfrm>
          <a:prstGeom prst="ellipse">
            <a:avLst/>
          </a:prstGeom>
          <a:solidFill>
            <a:srgbClr val="012A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</a:rPr>
              <a:t>From a flat heuristic to a transparent, store-specific, validated ML targeting system.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6118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12A6E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400"/>
                </a:solidFill>
              </a:rPr>
              <a:t>7.05%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WAPE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36118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12A6E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400"/>
                </a:solidFill>
              </a:rPr>
              <a:t>−0.97%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4617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36118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12A6E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400"/>
                </a:solidFill>
              </a:rPr>
              <a:t>94.7%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4617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Calibrated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98280" y="36118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12A6E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400"/>
                </a:solidFill>
              </a:rPr>
              <a:t>15%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098280" y="4617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 Naive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Capstone 8  ·  Group 8  ·  IIM Calcutta APAL02   |   Live demo: localhost:8501   |   github.com/nishthaspeakx/capstone_8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Lowe's Store-Level Sales Target Model</dc:title>
  <dc:subject>PptxGenJS Presentation</dc:subject>
  <dc:creator>Group 8 — IIM Calcutta APAL02</dc:creator>
  <cp:lastModifiedBy>Group 8 — IIM Calcutta APAL02</cp:lastModifiedBy>
  <cp:revision>1</cp:revision>
  <dcterms:created xsi:type="dcterms:W3CDTF">2026-05-19T10:25:28Z</dcterms:created>
  <dcterms:modified xsi:type="dcterms:W3CDTF">2026-05-19T10:25:28Z</dcterms:modified>
</cp:coreProperties>
</file>