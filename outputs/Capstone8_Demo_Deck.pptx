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Roles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65C0"/>
              </a:solidFill>
              <a:effectLst/>
            </c:spPr>
          </c:dPt>
          <c:dPt>
            <c:idx val="1"/>
            <c:bubble3D val="0"/>
            <c:spPr>
              <a:solidFill>
                <a:srgbClr val="43A047"/>
              </a:solidFill>
              <a:effectLst/>
            </c:spPr>
          </c:dPt>
          <c:dPt>
            <c:idx val="2"/>
            <c:bubble3D val="0"/>
            <c:spPr>
              <a:solidFill>
                <a:srgbClr val="757575"/>
              </a:solidFill>
              <a:effectLst/>
            </c:spPr>
          </c:dPt>
          <c:dPt>
            <c:idx val="3"/>
            <c:bubble3D val="0"/>
            <c:spPr>
              <a:solidFill>
                <a:srgbClr val="FF8F00"/>
              </a:solidFill>
              <a:effectLst/>
            </c:spPr>
          </c:dPt>
          <c:dPt>
            <c:idx val="4"/>
            <c:bubble3D val="0"/>
            <c:spPr>
              <a:solidFill>
                <a:srgbClr val="C62828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High Growth</c:v>
                </c:pt>
                <c:pt idx="1">
                  <c:v>Growth</c:v>
                </c:pt>
                <c:pt idx="2">
                  <c:v>Neutral</c:v>
                </c:pt>
                <c:pt idx="3">
                  <c:v>Maintain</c:v>
                </c:pt>
                <c:pt idx="4">
                  <c:v>Defend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346</c:v>
                </c:pt>
                <c:pt idx="1">
                  <c:v>345</c:v>
                </c:pt>
                <c:pt idx="2">
                  <c:v>345</c:v>
                </c:pt>
                <c:pt idx="3">
                  <c:v>346</c:v>
                </c:pt>
                <c:pt idx="4">
                  <c:v>345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33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-2011680"/>
            <a:ext cx="5943600" cy="5943600"/>
          </a:xfrm>
          <a:prstGeom prst="ellipse">
            <a:avLst/>
          </a:prstGeom>
          <a:solidFill>
            <a:srgbClr val="012A6E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3108960"/>
            <a:ext cx="3840480" cy="3840480"/>
          </a:xfrm>
          <a:prstGeom prst="ellipse">
            <a:avLst/>
          </a:prstGeom>
          <a:solidFill>
            <a:srgbClr val="0277BD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4B400"/>
                </a:solidFill>
              </a:rPr>
              <a:t>IIM CALCUTTA  ·  CAPSTONE 8  ·  GROUP 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8961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Lowe's Store-Level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Sales Targeting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</a:rPr>
              <a:t>Replacing the peanut-butter spread with a supervised ML model that learns local market dynamics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617720"/>
            <a:ext cx="7680960" cy="1691640"/>
          </a:xfrm>
          <a:prstGeom prst="roundRect">
            <a:avLst>
              <a:gd name="adj" fmla="val 4324"/>
            </a:avLst>
          </a:prstGeom>
          <a:solidFill>
            <a:srgbClr val="012A6E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4B400"/>
                </a:solidFill>
              </a:rPr>
              <a:t>TEAM MEMBERS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3" name="Text 11"/>
          <p:cNvSpPr/>
          <p:nvPr/>
        </p:nvSpPr>
        <p:spPr>
          <a:xfrm>
            <a:off x="29077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5" name="Text 13"/>
          <p:cNvSpPr/>
          <p:nvPr/>
        </p:nvSpPr>
        <p:spPr>
          <a:xfrm>
            <a:off x="47365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5029200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50292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9" name="Text 17"/>
          <p:cNvSpPr/>
          <p:nvPr/>
        </p:nvSpPr>
        <p:spPr>
          <a:xfrm>
            <a:off x="10789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5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1" name="Text 19"/>
          <p:cNvSpPr/>
          <p:nvPr/>
        </p:nvSpPr>
        <p:spPr>
          <a:xfrm>
            <a:off x="29077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3" name="Text 21"/>
          <p:cNvSpPr/>
          <p:nvPr/>
        </p:nvSpPr>
        <p:spPr>
          <a:xfrm>
            <a:off x="47365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7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0" y="5596128"/>
            <a:ext cx="73152" cy="384048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596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Member 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</a:rPr>
              <a:t>github.com/nishthaspeakx/capstone_8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targets ignore local reality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03087"/>
                </a:solidFill>
              </a:rPr>
              <a:t>How Lowe's sets targets today: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2332"/>
                </a:solidFill>
              </a:rPr>
              <a:t>the total company plan is divided across ~1,727 stores using each store's 3-year historical sales share — a flat allocation that ignores local market reality.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73152" cy="59436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A booming new-construction suburb gets the SAME growth rate as a declining rural town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73152" cy="59436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0233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Demographics, housing age, income, competition — all invisible to the method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800600"/>
            <a:ext cx="73152" cy="59436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800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Planners spend the whole year manually overriding wrong targets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0" y="178308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003087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0" y="21945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B400"/>
                </a:solidFill>
              </a:rPr>
              <a:t>25.83%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7955280" y="36118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of store-weeks miss target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by more than ±10%</a:t>
            </a:r>
            <a:endParaRPr lang="en-US" sz="15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under the current method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51206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1 in 4 store-weeks need re-planning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Supervised ML on 16 carefully chosen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713232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4708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Lag / Momentum (4)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213969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lag_1 · lag_4 · lag_13 · lag_52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624328"/>
            <a:ext cx="82296" cy="713232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68833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Demand — Raw (5)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98094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Households · Density · Income · Housing Units · Population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465576"/>
            <a:ext cx="82296" cy="71323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52958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Demand — Engineered (3)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382219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income_affluent · housing_new · housing_old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64008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306824"/>
            <a:ext cx="82296" cy="7132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37083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</a:rPr>
              <a:t>Competition + Store (4)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466344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</a:rPr>
              <a:t>Sister Stores · Total Competitors · Wallflowers · Urbanicity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78040" y="1783080"/>
            <a:ext cx="4572000" cy="50292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2" name="Text 20"/>
          <p:cNvSpPr/>
          <p:nvPr/>
        </p:nvSpPr>
        <p:spPr>
          <a:xfrm>
            <a:off x="7360920" y="1783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Built on rigorous methodology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60920" y="2468880"/>
            <a:ext cx="4297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Model: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1A2332"/>
                </a:solidFill>
              </a:rPr>
              <a:t>XGBoost (vs LightGBM, Ridge, naive)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Trained on: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1A2332"/>
                </a:solidFill>
              </a:rPr>
              <a:t>269,412 store-week records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Validation: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1A2332"/>
                </a:solidFill>
              </a:rPr>
              <a:t>Rolling time split (train past → predict future)</a:t>
            </a:r>
            <a:endParaRPr lang="en-US" sz="11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3087"/>
                </a:solidFill>
              </a:rPr>
              <a:t>Leakage banned: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332"/>
                </a:solidFill>
              </a:rPr>
              <a:t>Plan Sales USD, Invoice Count, Avg Ticket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78040" y="5303520"/>
            <a:ext cx="4572000" cy="822960"/>
          </a:xfrm>
          <a:prstGeom prst="roundRect">
            <a:avLst>
              <a:gd name="adj" fmla="val 6667"/>
            </a:avLst>
          </a:prstGeom>
          <a:solidFill>
            <a:srgbClr val="F4B4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78040" y="5349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165 → 40 → 16 features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78040" y="5742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3087"/>
                </a:solidFill>
              </a:rPr>
              <a:t>3 iterations · multicollinearity removed · business-relevance trim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HEADLINE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success criterion met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210312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7.05%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WAPE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Target &lt; 8%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8064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98064" y="1783080"/>
            <a:ext cx="210312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2798064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−0.97%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98064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Bias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98064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Within ±2%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47488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47488" y="1783080"/>
            <a:ext cx="210312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0.977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047488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47488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Target &gt; 0.88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96912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96912" y="1783080"/>
            <a:ext cx="2103120" cy="91440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21" name="Text 19"/>
          <p:cNvSpPr/>
          <p:nvPr/>
        </p:nvSpPr>
        <p:spPr>
          <a:xfrm>
            <a:off x="7296912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15%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296912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vs Naive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96912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Beats lag-52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46336" y="178308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46336" y="1783080"/>
            <a:ext cx="2103120" cy="91440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6" name="Text 24"/>
          <p:cNvSpPr/>
          <p:nvPr/>
        </p:nvSpPr>
        <p:spPr>
          <a:xfrm>
            <a:off x="9546336" y="1965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3087"/>
                </a:solidFill>
              </a:rPr>
              <a:t>94.7%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9546336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</a:rPr>
              <a:t>Calibrated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546336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7D32"/>
                </a:solidFill>
              </a:rPr>
              <a:t>1,636 / 1,727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64240" cy="22860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WAPE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Bias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8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2332"/>
                          </a:solidFill>
                        </a:rPr>
                        <a:t>XGBoost (selected)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7.05%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−0.97%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0.977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LightGBM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7.07%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−1.11%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0.977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Ridge Regression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7.11%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+0.39%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0.978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Naive (lag-52)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8.27%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+0.33%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2332"/>
                          </a:solidFill>
                        </a:rPr>
                        <a:t>0.965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THE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Store-Level Accuracy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2"/>
                </a:solidFill>
              </a:rPr>
              <a:t>Per-store WAPE, Bias &amp; quarterly bias — then classify every store for targeted planner action.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514600"/>
            <a:ext cx="3566160" cy="91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97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7D32"/>
                </a:solidFill>
              </a:rPr>
              <a:t>1,636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Well-Calibrated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B"/>
                </a:solidFill>
              </a:rPr>
              <a:t>Within ±5% — trust the target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5146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2514600"/>
            <a:ext cx="3566160" cy="91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4315968" y="2697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</a:rPr>
              <a:t>60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315968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Under-Targeted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98848" y="4114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B"/>
                </a:solidFill>
              </a:rPr>
              <a:t>Sandbagged — raise target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83296" y="25146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83296" y="2514600"/>
            <a:ext cx="3566160" cy="9144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7" name="Text 15"/>
          <p:cNvSpPr/>
          <p:nvPr/>
        </p:nvSpPr>
        <p:spPr>
          <a:xfrm>
            <a:off x="8083296" y="2697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62828"/>
                </a:solidFill>
              </a:rPr>
              <a:t>31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083296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3087"/>
                </a:solidFill>
              </a:rPr>
              <a:t>Over-Targeted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66176" y="4114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B"/>
                </a:solidFill>
              </a:rPr>
              <a:t>Too aggressive — 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003087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53492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1,727 stores manually reviewed today  →  only 91 stores need attention with our model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B400"/>
                </a:solidFill>
              </a:rPr>
              <a:t>a ~95% reduction in planner override workload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STRATEGIC OVERLAY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Role-of-Store — one model, 5 playbooks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47548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82880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669280" y="1828800"/>
            <a:ext cx="82296" cy="9326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4"/>
          <p:cNvSpPr/>
          <p:nvPr/>
        </p:nvSpPr>
        <p:spPr>
          <a:xfrm>
            <a:off x="589788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High Growth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97880" y="22860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Expanding market + outperforming → raise targets aggressively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0" y="2907792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0" y="2907792"/>
            <a:ext cx="82296" cy="93268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1" name="Text 8"/>
          <p:cNvSpPr/>
          <p:nvPr/>
        </p:nvSpPr>
        <p:spPr>
          <a:xfrm>
            <a:off x="5897880" y="29992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Growth / Neutral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897880" y="3364992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Moderate or stable signals → trust data-driven target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0" y="3986784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0" y="3986784"/>
            <a:ext cx="82296" cy="9326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5" name="Text 12"/>
          <p:cNvSpPr/>
          <p:nvPr/>
        </p:nvSpPr>
        <p:spPr>
          <a:xfrm>
            <a:off x="5897880" y="40782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Maintain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897880" y="4443984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Aging market, steady demand → hold targets, monitor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0" y="5065776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669280" y="5065776"/>
            <a:ext cx="82296" cy="9326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9" name="Text 16"/>
          <p:cNvSpPr/>
          <p:nvPr/>
        </p:nvSpPr>
        <p:spPr>
          <a:xfrm>
            <a:off x="5897880" y="515721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</a:rPr>
              <a:t>Defend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897880" y="5522976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</a:rPr>
              <a:t>High competition + underperforming → conservative, protect share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6565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94415" y="65653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4B400"/>
                </a:solidFill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to see how we implemented it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3657600"/>
          </a:xfrm>
          <a:prstGeom prst="roundRect">
            <a:avLst>
              <a:gd name="adj" fmla="val 2000"/>
            </a:avLst>
          </a:prstGeom>
          <a:solidFill>
            <a:srgbClr val="012A6E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31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400"/>
                </a:solidFill>
              </a:rPr>
              <a:t>Interactive Streamlit App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92608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880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Hero stat banner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63040" y="320954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94.7% headline + 1,727 → 91 workload comparison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292608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12280" y="2880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Pick-a-Store simulator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12280" y="320954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Search any of 1,727 stores → see Actual vs Peanut-butter vs Model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4400" y="379476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3749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Explain this store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07822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GenAI-powered per-store explanation using the 16 feature values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379476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3749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Feature importance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407822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What drives the predictions — recent sales + market signals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" y="466344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63040" y="4617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Store accuracy loop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94690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Under / over / well-calibrated tabs · drill-down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457200" cy="457200"/>
          </a:xfrm>
          <a:prstGeom prst="ellipse">
            <a:avLst/>
          </a:prstGeom>
          <a:solidFill>
            <a:srgbClr val="F4B400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12280" y="4617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Role-of-Store segments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12280" y="494690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5 strategic playbooks · pie + table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98932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F4B400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5989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087"/>
                </a:solidFill>
              </a:rPr>
              <a:t>🌐  https://storewisetarget.streamlit.app   |   localhost:8501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012A6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4B400"/>
                </a:solidFill>
              </a:rPr>
              <a:t>Questions &amp; discussion welcome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3154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</a:rPr>
              <a:t>From a flat heuristic → a transparent, store-specific, validated ML targeting system.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7.05%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WAPE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−0.97%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2044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Bias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94.7%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Calibrated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411480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012A6E"/>
          </a:solidFill>
          <a:ln w="19050">
            <a:solidFill>
              <a:srgbClr val="F4B4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B400"/>
                </a:solidFill>
              </a:rPr>
              <a:t>95%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098280" y="5120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Workload Drop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IIM Calcutta  ·  Capstone 8  ·  Group 8   |   github.com/nishthaspeakx/capstone_8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Lowe's Store-Level Sales Target — Demo Deck</dc:title>
  <dc:subject>PptxGenJS Presentation</dc:subject>
  <dc:creator>Group 8 — IIM Calcutta APAL02</dc:creator>
  <cp:lastModifiedBy>Group 8 — IIM Calcutta APAL02</cp:lastModifiedBy>
  <cp:revision>1</cp:revision>
  <dcterms:created xsi:type="dcterms:W3CDTF">2026-06-14T13:50:38Z</dcterms:created>
  <dcterms:modified xsi:type="dcterms:W3CDTF">2026-06-14T13:50:38Z</dcterms:modified>
</cp:coreProperties>
</file>