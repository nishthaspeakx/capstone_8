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Roles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565C0"/>
              </a:solidFill>
              <a:effectLst/>
            </c:spPr>
          </c:dPt>
          <c:dPt>
            <c:idx val="1"/>
            <c:bubble3D val="0"/>
            <c:spPr>
              <a:solidFill>
                <a:srgbClr val="43A047"/>
              </a:solidFill>
              <a:effectLst/>
            </c:spPr>
          </c:dPt>
          <c:dPt>
            <c:idx val="2"/>
            <c:bubble3D val="0"/>
            <c:spPr>
              <a:solidFill>
                <a:srgbClr val="757575"/>
              </a:solidFill>
              <a:effectLst/>
            </c:spPr>
          </c:dPt>
          <c:dPt>
            <c:idx val="3"/>
            <c:bubble3D val="0"/>
            <c:spPr>
              <a:solidFill>
                <a:srgbClr val="FF8F00"/>
              </a:solidFill>
              <a:effectLst/>
            </c:spPr>
          </c:dPt>
          <c:dPt>
            <c:idx val="4"/>
            <c:bubble3D val="0"/>
            <c:spPr>
              <a:solidFill>
                <a:srgbClr val="C62828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High Growth</c:v>
                </c:pt>
                <c:pt idx="1">
                  <c:v>Growth</c:v>
                </c:pt>
                <c:pt idx="2">
                  <c:v>Neutral</c:v>
                </c:pt>
                <c:pt idx="3">
                  <c:v>Maintain</c:v>
                </c:pt>
                <c:pt idx="4">
                  <c:v>Defend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346</c:v>
                </c:pt>
                <c:pt idx="1">
                  <c:v>345</c:v>
                </c:pt>
                <c:pt idx="2">
                  <c:v>345</c:v>
                </c:pt>
                <c:pt idx="3">
                  <c:v>346</c:v>
                </c:pt>
                <c:pt idx="4">
                  <c:v>345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233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0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3" name="Shape 1"/>
          <p:cNvSpPr/>
          <p:nvPr/>
        </p:nvSpPr>
        <p:spPr>
          <a:xfrm>
            <a:off x="8351215" y="-2011680"/>
            <a:ext cx="5943600" cy="5943600"/>
          </a:xfrm>
          <a:prstGeom prst="ellipse">
            <a:avLst/>
          </a:prstGeom>
          <a:solidFill>
            <a:srgbClr val="012A6E"/>
          </a:solidFill>
          <a:ln/>
        </p:spPr>
      </p:sp>
      <p:sp>
        <p:nvSpPr>
          <p:cNvPr id="4" name="Shape 2"/>
          <p:cNvSpPr/>
          <p:nvPr/>
        </p:nvSpPr>
        <p:spPr>
          <a:xfrm>
            <a:off x="9814255" y="3108960"/>
            <a:ext cx="3840480" cy="3840480"/>
          </a:xfrm>
          <a:prstGeom prst="ellipse">
            <a:avLst/>
          </a:prstGeom>
          <a:solidFill>
            <a:srgbClr val="0277BD">
              <a:alpha val="4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4B400"/>
                </a:solidFill>
              </a:rPr>
              <a:t>IIM CALCUTTA  ·  CAPSTONE 8  ·  GROUP 8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8961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Lowe's Store-Level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Sales Targeting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731520" y="36576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</a:rPr>
              <a:t>Replacing the peanut-butter spread with a supervised ML model that learns local market dynamics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4617720"/>
            <a:ext cx="7680960" cy="1691640"/>
          </a:xfrm>
          <a:prstGeom prst="roundRect">
            <a:avLst>
              <a:gd name="adj" fmla="val 4324"/>
            </a:avLst>
          </a:prstGeom>
          <a:solidFill>
            <a:srgbClr val="012A6E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4709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4B400"/>
                </a:solidFill>
              </a:rPr>
              <a:t>TEAM MEMBERS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5029200"/>
            <a:ext cx="73152" cy="384048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11" name="Text 9"/>
          <p:cNvSpPr/>
          <p:nvPr/>
        </p:nvSpPr>
        <p:spPr>
          <a:xfrm>
            <a:off x="1078992" y="50292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Member 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0" y="5029200"/>
            <a:ext cx="73152" cy="384048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13" name="Text 11"/>
          <p:cNvSpPr/>
          <p:nvPr/>
        </p:nvSpPr>
        <p:spPr>
          <a:xfrm>
            <a:off x="2907792" y="50292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Member 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0" y="5029200"/>
            <a:ext cx="73152" cy="384048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15" name="Text 13"/>
          <p:cNvSpPr/>
          <p:nvPr/>
        </p:nvSpPr>
        <p:spPr>
          <a:xfrm>
            <a:off x="4736592" y="50292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Member 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0" y="5029200"/>
            <a:ext cx="73152" cy="384048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50292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Member 4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4400" y="5596128"/>
            <a:ext cx="73152" cy="384048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19" name="Text 17"/>
          <p:cNvSpPr/>
          <p:nvPr/>
        </p:nvSpPr>
        <p:spPr>
          <a:xfrm>
            <a:off x="1078992" y="55961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Member 5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743200" y="5596128"/>
            <a:ext cx="73152" cy="384048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21" name="Text 19"/>
          <p:cNvSpPr/>
          <p:nvPr/>
        </p:nvSpPr>
        <p:spPr>
          <a:xfrm>
            <a:off x="2907792" y="55961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Member 6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0" y="5596128"/>
            <a:ext cx="73152" cy="384048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23" name="Text 21"/>
          <p:cNvSpPr/>
          <p:nvPr/>
        </p:nvSpPr>
        <p:spPr>
          <a:xfrm>
            <a:off x="4736592" y="55961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Member 7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0" y="5596128"/>
            <a:ext cx="73152" cy="384048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5961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Member 8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</a:rPr>
              <a:t>github.com/nishthaspeakx/capstone_8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77BD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0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targets ignore local reality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6858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003087"/>
                </a:solidFill>
              </a:rPr>
              <a:t>How Lowe's sets targets today: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A2332"/>
                </a:solidFill>
              </a:rPr>
              <a:t>the total company plan is divided across ~1,727 stores using each store's 3-year historical sales share — a flat allocation that ignores local market reality.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246120"/>
            <a:ext cx="73152" cy="59436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32461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332"/>
                </a:solidFill>
              </a:rPr>
              <a:t>A booming new-construction suburb gets the SAME growth rate as a declining rural town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4023360"/>
            <a:ext cx="73152" cy="59436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402336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332"/>
                </a:solidFill>
              </a:rPr>
              <a:t>Demographics, housing age, income, competition — all invisible to the method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800600"/>
            <a:ext cx="73152" cy="59436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480060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332"/>
                </a:solidFill>
              </a:rPr>
              <a:t>Planners spend the whole year manually overriding wrong targets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0" y="1783080"/>
            <a:ext cx="3931920" cy="3931920"/>
          </a:xfrm>
          <a:prstGeom prst="roundRect">
            <a:avLst>
              <a:gd name="adj" fmla="val 1860"/>
            </a:avLst>
          </a:prstGeom>
          <a:solidFill>
            <a:srgbClr val="003087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72400" y="219456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4B400"/>
                </a:solidFill>
              </a:rPr>
              <a:t>25.83%</a:t>
            </a:r>
            <a:endParaRPr lang="en-US" sz="6400" dirty="0"/>
          </a:p>
        </p:txBody>
      </p:sp>
      <p:sp>
        <p:nvSpPr>
          <p:cNvPr id="13" name="Text 11"/>
          <p:cNvSpPr/>
          <p:nvPr/>
        </p:nvSpPr>
        <p:spPr>
          <a:xfrm>
            <a:off x="7955280" y="3611880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of store-weeks miss target</a:t>
            </a:r>
            <a:endParaRPr lang="en-US" sz="15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by more than ±10%</a:t>
            </a:r>
            <a:endParaRPr lang="en-US" sz="15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under the current method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772400" y="51206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1 in 4 store-weeks need re-planning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5653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Capstone 8 · Group 8 · IIM Calcutta APAL02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094415" y="65653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2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77BD"/>
                </a:solidFill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0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Supervised ML on 16 carefully chosen features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4008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82296" cy="713232"/>
          </a:xfrm>
          <a:prstGeom prst="rect">
            <a:avLst/>
          </a:prstGeom>
          <a:solidFill>
            <a:srgbClr val="0277BD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4708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087"/>
                </a:solidFill>
              </a:rPr>
              <a:t>Lag / Momentum (4)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213969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</a:rPr>
              <a:t>lag_1 · lag_4 · lag_13 · lag_52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64008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624328"/>
            <a:ext cx="82296" cy="713232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68833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087"/>
                </a:solidFill>
              </a:rPr>
              <a:t>Demand — Raw (5)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49808" y="2980944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</a:rPr>
              <a:t>Households · Density · Income · Housing Units · Population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64008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465576"/>
            <a:ext cx="82296" cy="71323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" y="3529584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087"/>
                </a:solidFill>
              </a:rPr>
              <a:t>Demand — Engineered (3)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382219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</a:rPr>
              <a:t>income_affluent · housing_new · housing_old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64008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306824"/>
            <a:ext cx="82296" cy="7132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437083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087"/>
                </a:solidFill>
              </a:rPr>
              <a:t>Competition + Store (4)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9808" y="466344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</a:rPr>
              <a:t>Sister Stores · Total Competitors · Wallflowers · Urbanicity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178040" y="1783080"/>
            <a:ext cx="45720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78040" y="1783080"/>
            <a:ext cx="4572000" cy="502920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22" name="Text 20"/>
          <p:cNvSpPr/>
          <p:nvPr/>
        </p:nvSpPr>
        <p:spPr>
          <a:xfrm>
            <a:off x="7360920" y="17830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Built on rigorous methodology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60920" y="2468880"/>
            <a:ext cx="42976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3087"/>
                </a:solidFill>
              </a:rPr>
              <a:t>Model:</a:t>
            </a:r>
            <a:endParaRPr lang="en-US" sz="1100" dirty="0"/>
          </a:p>
          <a:p>
            <a:pPr indent="0" marL="0">
              <a:lnSpc>
                <a:spcPts val="1400"/>
              </a:lnSpc>
              <a:spcAft>
                <a:spcPts val="1200"/>
              </a:spcAft>
              <a:buNone/>
            </a:pPr>
            <a:r>
              <a:rPr lang="en-US" sz="1100" dirty="0">
                <a:solidFill>
                  <a:srgbClr val="1A2332"/>
                </a:solidFill>
              </a:rPr>
              <a:t>XGBoost (vs LightGBM, Ridge, naive)</a:t>
            </a:r>
            <a:endParaRPr lang="en-US" sz="11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3087"/>
                </a:solidFill>
              </a:rPr>
              <a:t>Trained on:</a:t>
            </a:r>
            <a:endParaRPr lang="en-US" sz="1100" dirty="0"/>
          </a:p>
          <a:p>
            <a:pPr indent="0" marL="0">
              <a:lnSpc>
                <a:spcPts val="1400"/>
              </a:lnSpc>
              <a:spcAft>
                <a:spcPts val="1200"/>
              </a:spcAft>
              <a:buNone/>
            </a:pPr>
            <a:r>
              <a:rPr lang="en-US" sz="1100" dirty="0">
                <a:solidFill>
                  <a:srgbClr val="1A2332"/>
                </a:solidFill>
              </a:rPr>
              <a:t>269,412 store-week records</a:t>
            </a:r>
            <a:endParaRPr lang="en-US" sz="11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3087"/>
                </a:solidFill>
              </a:rPr>
              <a:t>Validation:</a:t>
            </a:r>
            <a:endParaRPr lang="en-US" sz="1100" dirty="0"/>
          </a:p>
          <a:p>
            <a:pPr indent="0" marL="0">
              <a:lnSpc>
                <a:spcPts val="1400"/>
              </a:lnSpc>
              <a:spcAft>
                <a:spcPts val="1200"/>
              </a:spcAft>
              <a:buNone/>
            </a:pPr>
            <a:r>
              <a:rPr lang="en-US" sz="1100" dirty="0">
                <a:solidFill>
                  <a:srgbClr val="1A2332"/>
                </a:solidFill>
              </a:rPr>
              <a:t>Rolling time split (train past → predict future)</a:t>
            </a:r>
            <a:endParaRPr lang="en-US" sz="11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3087"/>
                </a:solidFill>
              </a:rPr>
              <a:t>Leakage banned: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332"/>
                </a:solidFill>
              </a:rPr>
              <a:t>Plan Sales USD, Invoice Count, Avg Ticket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178040" y="5303520"/>
            <a:ext cx="4572000" cy="822960"/>
          </a:xfrm>
          <a:prstGeom prst="roundRect">
            <a:avLst>
              <a:gd name="adj" fmla="val 6667"/>
            </a:avLst>
          </a:prstGeom>
          <a:solidFill>
            <a:srgbClr val="F4B400"/>
          </a:solidFill>
          <a:ln/>
        </p:spPr>
      </p:sp>
      <p:sp>
        <p:nvSpPr>
          <p:cNvPr id="25" name="Text 23"/>
          <p:cNvSpPr/>
          <p:nvPr/>
        </p:nvSpPr>
        <p:spPr>
          <a:xfrm>
            <a:off x="7178040" y="53492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3087"/>
                </a:solidFill>
              </a:rPr>
              <a:t>165 → 40 → 16 features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178040" y="5742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3087"/>
                </a:solidFill>
              </a:rPr>
              <a:t>3 iterations · multicollinearity removed · business-relevance trim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65653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Capstone 8 · Group 8 · IIM Calcutta APAL02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94415" y="65653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3 /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77BD"/>
                </a:solidFill>
              </a:rPr>
              <a:t>HEADLINE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0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success criterion met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1031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2103120" cy="91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9659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3087"/>
                </a:solidFill>
              </a:rPr>
              <a:t>7.05%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</a:rPr>
              <a:t>WAPE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108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7D32"/>
                </a:solidFill>
              </a:rPr>
              <a:t>Target &lt; 8%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98064" y="1783080"/>
            <a:ext cx="21031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98064" y="1783080"/>
            <a:ext cx="2103120" cy="91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2798064" y="19659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3087"/>
                </a:solidFill>
              </a:rPr>
              <a:t>−0.97%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798064" y="2743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</a:rPr>
              <a:t>Bias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98064" y="3108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7D32"/>
                </a:solidFill>
              </a:rPr>
              <a:t>Within ±2%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47488" y="1783080"/>
            <a:ext cx="21031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047488" y="1783080"/>
            <a:ext cx="2103120" cy="91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5047488" y="19659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3087"/>
                </a:solidFill>
              </a:rPr>
              <a:t>0.977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047488" y="2743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</a:rPr>
              <a:t>R²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47488" y="3108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7D32"/>
                </a:solidFill>
              </a:rPr>
              <a:t>Target &gt; 0.88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296912" y="1783080"/>
            <a:ext cx="21031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296912" y="1783080"/>
            <a:ext cx="2103120" cy="91440"/>
          </a:xfrm>
          <a:prstGeom prst="rect">
            <a:avLst/>
          </a:prstGeom>
          <a:solidFill>
            <a:srgbClr val="0277BD"/>
          </a:solidFill>
          <a:ln/>
        </p:spPr>
      </p:sp>
      <p:sp>
        <p:nvSpPr>
          <p:cNvPr id="21" name="Text 19"/>
          <p:cNvSpPr/>
          <p:nvPr/>
        </p:nvSpPr>
        <p:spPr>
          <a:xfrm>
            <a:off x="7296912" y="19659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3087"/>
                </a:solidFill>
              </a:rPr>
              <a:t>15%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7296912" y="2743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</a:rPr>
              <a:t>vs Naive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296912" y="3108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7D32"/>
                </a:solidFill>
              </a:rPr>
              <a:t>Beats lag-52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546336" y="1783080"/>
            <a:ext cx="21031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546336" y="1783080"/>
            <a:ext cx="2103120" cy="91440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26" name="Text 24"/>
          <p:cNvSpPr/>
          <p:nvPr/>
        </p:nvSpPr>
        <p:spPr>
          <a:xfrm>
            <a:off x="9546336" y="19659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3087"/>
                </a:solidFill>
              </a:rPr>
              <a:t>94.7%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9546336" y="2743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</a:rPr>
              <a:t>Calibrated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546336" y="3108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7D32"/>
                </a:solidFill>
              </a:rPr>
              <a:t>1,636 / 1,727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11064240" cy="2286000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WAPE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Bias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2332"/>
                          </a:solidFill>
                        </a:rPr>
                        <a:t>XGBoost (selected)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7.05%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−0.97%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0.977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LightGBM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7.07%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−1.11%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0.977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Ridge Regression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7.11%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+0.39%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0.978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Naive (lag-52)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8.27%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+0.33%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0.965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31" name="Text 28"/>
          <p:cNvSpPr/>
          <p:nvPr/>
        </p:nvSpPr>
        <p:spPr>
          <a:xfrm>
            <a:off x="457200" y="65653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Capstone 8 · Group 8 · IIM Calcutta APAL02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094415" y="65653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4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77BD"/>
                </a:solidFill>
              </a:rPr>
              <a:t>THE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0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Store-Level Accuracy Loop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332"/>
                </a:solidFill>
              </a:rPr>
              <a:t>Per-store WAPE, Bias &amp; quarterly bias — then classify every store for targeted planner action.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356616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514600"/>
            <a:ext cx="3566160" cy="91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6974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E7D32"/>
                </a:solidFill>
              </a:rPr>
              <a:t>1,636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3087"/>
                </a:solidFill>
              </a:rPr>
              <a:t>Well-Calibrated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B7B"/>
                </a:solidFill>
              </a:rPr>
              <a:t>Within ±5% — trust the target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2514600"/>
            <a:ext cx="356616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15968" y="2514600"/>
            <a:ext cx="3566160" cy="91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4315968" y="26974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65100"/>
                </a:solidFill>
              </a:rPr>
              <a:t>60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315968" y="3611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3087"/>
                </a:solidFill>
              </a:rPr>
              <a:t>Under-Targeted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498848" y="41148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B7B"/>
                </a:solidFill>
              </a:rPr>
              <a:t>Sandbagged — raise target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83296" y="2514600"/>
            <a:ext cx="356616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83296" y="2514600"/>
            <a:ext cx="3566160" cy="9144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7" name="Text 15"/>
          <p:cNvSpPr/>
          <p:nvPr/>
        </p:nvSpPr>
        <p:spPr>
          <a:xfrm>
            <a:off x="8083296" y="26974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62828"/>
                </a:solidFill>
              </a:rPr>
              <a:t>31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8083296" y="3611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3087"/>
                </a:solidFill>
              </a:rPr>
              <a:t>Over-Targeted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66176" y="41148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B7B"/>
                </a:solidFill>
              </a:rPr>
              <a:t>Too aggressive — review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30352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003087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48640" y="53492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1,727 stores manually reviewed today  →  only 91 stores need attention with our model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B400"/>
                </a:solidFill>
              </a:rPr>
              <a:t>a ~95% reduction in planner override workload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65653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Capstone 8 · Group 8 · IIM Calcutta APAL02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653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5 /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77BD"/>
                </a:solidFill>
              </a:rPr>
              <a:t>STRATEGIC OVERLAY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0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Role-of-Store — one model, 5 playbooks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475488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669280" y="1828800"/>
            <a:ext cx="59436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669280" y="1828800"/>
            <a:ext cx="82296" cy="9326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4"/>
          <p:cNvSpPr/>
          <p:nvPr/>
        </p:nvSpPr>
        <p:spPr>
          <a:xfrm>
            <a:off x="5897880" y="1920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087"/>
                </a:solidFill>
              </a:rPr>
              <a:t>High Growth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97880" y="228600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Expanding market + outperforming → raise targets aggressively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0" y="2907792"/>
            <a:ext cx="59436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69280" y="2907792"/>
            <a:ext cx="82296" cy="932688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11" name="Text 8"/>
          <p:cNvSpPr/>
          <p:nvPr/>
        </p:nvSpPr>
        <p:spPr>
          <a:xfrm>
            <a:off x="5897880" y="29992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087"/>
                </a:solidFill>
              </a:rPr>
              <a:t>Growth / Neutral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897880" y="3364992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Moderate or stable signals → trust data-driven target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0" y="3986784"/>
            <a:ext cx="59436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669280" y="3986784"/>
            <a:ext cx="82296" cy="932688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15" name="Text 12"/>
          <p:cNvSpPr/>
          <p:nvPr/>
        </p:nvSpPr>
        <p:spPr>
          <a:xfrm>
            <a:off x="5897880" y="407822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087"/>
                </a:solidFill>
              </a:rPr>
              <a:t>Maintain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897880" y="4443984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Aging market, steady demand → hold targets, monitor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0" y="5065776"/>
            <a:ext cx="59436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669280" y="5065776"/>
            <a:ext cx="82296" cy="93268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9" name="Text 16"/>
          <p:cNvSpPr/>
          <p:nvPr/>
        </p:nvSpPr>
        <p:spPr>
          <a:xfrm>
            <a:off x="5897880" y="515721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087"/>
                </a:solidFill>
              </a:rPr>
              <a:t>Defend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897880" y="5522976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High competition + underperforming → conservative, protect share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65653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Capstone 8 · Group 8 · IIM Calcutta APAL02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094415" y="65653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6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77BD"/>
                </a:solidFill>
              </a:rPr>
              <a:t>REFLECTIONS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0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worked, what's honest, what's next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703320" cy="443484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3703320" cy="5029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830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What worked well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468880"/>
            <a:ext cx="3383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</a:rPr>
              <a:t>Leakage-safe lag features turned a hard problem tractable</a:t>
            </a:r>
            <a:endParaRPr lang="en-US" sz="11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</a:rPr>
              <a:t>Trimming to 16 features improved bias AND explainability</a:t>
            </a:r>
            <a:endParaRPr lang="en-US" sz="11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</a:rPr>
              <a:t>Store-Level Accuracy Loop — the real business differentiator</a:t>
            </a:r>
            <a:endParaRPr lang="en-US" sz="11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</a:rPr>
              <a:t>3 model families agreeing at ~7% — robust, not a fluke</a:t>
            </a:r>
            <a:endParaRPr lang="en-US" sz="11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</a:rPr>
              <a:t>Discipline on leakage (refused Plan Sales USD at corr 0.986)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1783080"/>
            <a:ext cx="3703320" cy="443484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434840" y="1783080"/>
            <a:ext cx="3703320" cy="50292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0" name="Text 8"/>
          <p:cNvSpPr/>
          <p:nvPr/>
        </p:nvSpPr>
        <p:spPr>
          <a:xfrm>
            <a:off x="4617720" y="17830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Honest limitations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17720" y="2468880"/>
            <a:ext cx="3383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</a:rPr>
              <a:t>Lag-driven — strong for existing stores, not for new ones</a:t>
            </a:r>
            <a:endParaRPr lang="en-US" sz="11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</a:rPr>
              <a:t>Week-ahead scoring (no recursive multi-week forecasting yet)</a:t>
            </a:r>
            <a:endParaRPr lang="en-US" sz="11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</a:rPr>
              <a:t>Role thresholds are heuristic (quantile-based)</a:t>
            </a:r>
            <a:endParaRPr lang="en-US" sz="11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</a:rPr>
              <a:t>Demographics are annual snapshots; intra-year shifts missed</a:t>
            </a:r>
            <a:endParaRPr lang="en-US" sz="11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</a:rPr>
              <a:t>No event / promo calendar integrated yet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321040" y="1783080"/>
            <a:ext cx="3337560" cy="443484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21040" y="1783080"/>
            <a:ext cx="3337560" cy="502920"/>
          </a:xfrm>
          <a:prstGeom prst="rect">
            <a:avLst/>
          </a:prstGeom>
          <a:solidFill>
            <a:srgbClr val="0277BD"/>
          </a:solidFill>
          <a:ln/>
        </p:spPr>
      </p:sp>
      <p:sp>
        <p:nvSpPr>
          <p:cNvPr id="14" name="Text 12"/>
          <p:cNvSpPr/>
          <p:nvPr/>
        </p:nvSpPr>
        <p:spPr>
          <a:xfrm>
            <a:off x="8503920" y="17830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What's next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503920" y="2468880"/>
            <a:ext cx="30632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</a:rPr>
              <a:t>Recursive multi-week forecasting for full-year targets</a:t>
            </a:r>
            <a:endParaRPr lang="en-US" sz="11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</a:rPr>
              <a:t>Cold-start model for new stores (no lag history)</a:t>
            </a:r>
            <a:endParaRPr lang="en-US" sz="11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</a:rPr>
              <a:t>Constrained optimization → store sums equal division plan</a:t>
            </a:r>
            <a:endParaRPr lang="en-US" sz="11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</a:rPr>
              <a:t>Pilot West Division → measure override drop → scale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65653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Capstone 8 · Group 8 · IIM Calcutta APAL02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94415" y="65653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7 /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30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3657600"/>
            <a:ext cx="5029200" cy="5029200"/>
          </a:xfrm>
          <a:prstGeom prst="ellipse">
            <a:avLst/>
          </a:prstGeom>
          <a:solidFill>
            <a:srgbClr val="012A6E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31520" y="2606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4B400"/>
                </a:solidFill>
              </a:rPr>
              <a:t>Questions &amp; discussion welcome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31520" y="31546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</a:rPr>
              <a:t>From a flat heuristic → a transparent, store-specific, validated ML targeting system.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012A6E"/>
          </a:solidFill>
          <a:ln w="19050">
            <a:solidFill>
              <a:srgbClr val="F4B4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3434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4B400"/>
                </a:solidFill>
              </a:rPr>
              <a:t>7.05%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31520" y="5120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WAPE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520440" y="411480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012A6E"/>
          </a:solidFill>
          <a:ln w="19050">
            <a:solidFill>
              <a:srgbClr val="F4B4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43434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4B400"/>
                </a:solidFill>
              </a:rPr>
              <a:t>−0.97%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520440" y="5120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Bias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411480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012A6E"/>
          </a:solidFill>
          <a:ln w="19050">
            <a:solidFill>
              <a:srgbClr val="F4B4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43434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4B400"/>
                </a:solidFill>
              </a:rPr>
              <a:t>94.7%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309360" y="5120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Calibrated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098280" y="411480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012A6E"/>
          </a:solidFill>
          <a:ln w="19050">
            <a:solidFill>
              <a:srgbClr val="F4B4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98280" y="43434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4B400"/>
                </a:solidFill>
              </a:rPr>
              <a:t>95%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098280" y="5120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Workload Drop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IIM Calcutta  ·  Capstone 8  ·  Group 8   |   github.com/nishthaspeakx/capstone_8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Lowe's Store-Level Sales Target — Demo Deck</dc:title>
  <dc:subject>PptxGenJS Presentation</dc:subject>
  <dc:creator>Group 8 — IIM Calcutta APAL02</dc:creator>
  <cp:lastModifiedBy>Group 8 — IIM Calcutta APAL02</cp:lastModifiedBy>
  <cp:revision>1</cp:revision>
  <dcterms:created xsi:type="dcterms:W3CDTF">2026-06-14T14:01:33Z</dcterms:created>
  <dcterms:modified xsi:type="dcterms:W3CDTF">2026-06-14T14:01:33Z</dcterms:modified>
</cp:coreProperties>
</file>