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Roles</c:v>
                </c:pt>
              </c:strCache>
            </c:strRef>
          </c:tx>
          <c:spPr>
            <a:solidFill>
              <a:schemeClr val="accent1"/>
            </a:solidFill>
            <a:ln w="9525" cap="flat">
              <a:solidFill>
                <a:srgbClr val="F9F9F9"/>
              </a:solidFill>
              <a:prstDash val="solid"/>
              <a:round/>
            </a:ln>
            <a:effectLst/>
          </c:spPr>
          <c:dPt>
            <c:idx val="0"/>
            <c:bubble3D val="0"/>
            <c:spPr>
              <a:solidFill>
                <a:srgbClr val="1565C0"/>
              </a:solidFill>
              <a:effectLst/>
            </c:spPr>
          </c:dPt>
          <c:dPt>
            <c:idx val="1"/>
            <c:bubble3D val="0"/>
            <c:spPr>
              <a:solidFill>
                <a:srgbClr val="43A047"/>
              </a:solidFill>
              <a:effectLst/>
            </c:spPr>
          </c:dPt>
          <c:dPt>
            <c:idx val="2"/>
            <c:bubble3D val="0"/>
            <c:spPr>
              <a:solidFill>
                <a:srgbClr val="757575"/>
              </a:solidFill>
              <a:effectLst/>
            </c:spPr>
          </c:dPt>
          <c:dPt>
            <c:idx val="3"/>
            <c:bubble3D val="0"/>
            <c:spPr>
              <a:solidFill>
                <a:srgbClr val="FF8F00"/>
              </a:solidFill>
              <a:effectLst/>
            </c:spPr>
          </c:dPt>
          <c:dPt>
            <c:idx val="4"/>
            <c:bubble3D val="0"/>
            <c:spPr>
              <a:solidFill>
                <a:srgbClr val="C62828"/>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High Growth</c:v>
                </c:pt>
                <c:pt idx="1">
                  <c:v>Growth</c:v>
                </c:pt>
                <c:pt idx="2">
                  <c:v>Neutral</c:v>
                </c:pt>
                <c:pt idx="3">
                  <c:v>Maintain</c:v>
                </c:pt>
                <c:pt idx="4">
                  <c:v>Defend</c:v>
                </c:pt>
              </c:strCache>
            </c:strRef>
          </c:cat>
          <c:val>
            <c:numRef>
              <c:f>Sheet1!$B$2:$B$6</c:f>
              <c:numCache>
                <c:ptCount val="5"/>
                <c:pt idx="0">
                  <c:v>346</c:v>
                </c:pt>
                <c:pt idx="1">
                  <c:v>345</c:v>
                </c:pt>
                <c:pt idx="2">
                  <c:v>345</c:v>
                </c:pt>
                <c:pt idx="3">
                  <c:v>346</c:v>
                </c:pt>
                <c:pt idx="4">
                  <c:v>345</c:v>
                </c:pt>
              </c:numCache>
            </c:numRef>
          </c:val>
        </c:ser>
        <c:firstSliceAng val="0"/>
        <c:holeSize val="55"/>
      </c:doughnutChart>
      <c:spPr>
        <a:noFill/>
        <a:ln>
          <a:noFill/>
        </a:ln>
        <a:effectLst/>
      </c:spPr>
    </c:plotArea>
    <c:legend>
      <c:legendPos val="b"/>
      <c:overlay val="0"/>
      <c:txPr>
        <a:bodyPr/>
        <a:lstStyle/>
        <a:p>
          <a:pPr>
            <a:defRPr sz="1100">
              <a:solidFill>
                <a:srgbClr val="1A233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Good morning Professor. We are Group 8 — and our capstone is on Lowe's Store-Level AI Sales Targeting. Over the next ten minutes, we will walk you through how we replaced their flat 'peanut-butter' planning method with a supervised machine learning model that actually understands local market dynamics. We will spend roughly six minutes on the work, and then move into a live demo of the dashboard for the remaining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Lowe's is America's number two home improvement retailer — about 1,727 stores and 85 billion dollars in annual revenue. Today, when they set next year's store sales targets, they take the total company plan and divide it across stores using each store's 3-year historical sales share. We call this the 'peanut-butter spread' — one flat number smeared across every store. The flaw is obvious: a booming new-construction suburb gets the same growth rate as a declining rural town. Demographics, housing age, income, competition — none of it matters. The cost? Under the current method, 25.83% of store-weeks miss target by more than ten percent. That is one in four store-weeks. Planners spend the entire year doing manual overrides, store by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Our solution is a supervised machine learning model trained on 269,412 store-week records. We started with 165 candidate features, narrowed to 40 in Phase 1, and after three modeling iterations landed on the final 16 you see on the left. They cover four groups: lag features capturing recent momentum, raw demand variables like households and income, three engineered demand features combining things like income brackets and housing age, and competition plus store attributes. The model is XGBoost — gradient boosted trees. We benchmarked it against LightGBM, Ridge regression, and a naive same-week-last-year baseline. Two key methodology points: we used a rolling time split — train on the past, test on the future, never random — and we explicitly banned three columns from being used as inputs because they were same-period measures that would leak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Every success criterion is met. WAPE of 7.05% — well under our 8% target. WAPE means: of every hundred dollars of actual sales, the model misses by about seven dollars. Bias of minus 0.97% — essentially zero, comfortably within our plus-or-minus 2% acceptance band. That means the chain plan reconciles cleanly. R-squared is 0.977 — the model explains 97.7% of sales variation. We beat the naive baseline by 15% — that is the bar every real model must clear. Look at the comparison table: all three real models cluster around 7% WAPE, while naive is at 8.27%. That agreement tells us the result is robust, not a fluke. The most important number on this slide is 94.7% — the share of stores whose targets land within plus-or-minus 5% of actual. We will unpack that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This is the real differentiator. Instead of trusting one global score that can hide offsetting errors, we compute per-store WAPE and bias, then classify every store. 1,636 stores — 94.7% — are well-calibrated, meaning their target is within plus-or-minus 5% of actual. Planners can trust these directly. Sixty stores are under-targeted: the model predicts too low and the store is essentially sandbagged — planners should raise these targets. Thirty-one are over-targeted: the model is too aggressive and the planner needs to investigate headwinds before committing. The headline business impact is on the navy strip at the bottom: today, planners manually review all 1,727 stores every cycle. With our model, only 91 need human attention. That is a 95% reduction in override workload — and the chain plan still reconciles because bias is near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On top of the model we layered a Role-of-Store overlay. Every store falls into one of five strategic segments — High Growth, Growth, Neutral, Maintain, or Defend. We derive these from a composite net score that combines household growth, new-housing share, and competitive intensity, then split stores into quintiles. The result: about 20% of stores in each segment, each with its own playbook. High Growth stores get aggressive targets; Defend stores get conservative ones to protect share. This turns a single model into five distinct planning playbooks — giving the planning team a richer toolkit than just one number per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Three honest reflections to close. What worked: our discipline on leakage prevention — we refused to use Plan Sales USD even at a 0.986 correlation, because it would have given us fake accuracy but a useless production model. And cutting from 40 features to 16 actually improved bias and made the model far more explainable to planners. Honest limitations: the model is lag-driven, so it is strong for existing stores but weak for brand-new ones. We do not yet have a full-year recursive forecaster, and demographics are annual snapshots that miss intra-year shifts. What is next: a cold-start model for new stores, recursive multi-week forecasting, constrained optimization so store targets sum exactly to the division plan, and a pilot on the West Division to measure override reduction before chain-wide rollout. With that — let me move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 show this AFTER the live demo] To recap — 7.05% WAPE, near-zero bias, 94.7% of stores accurately targeted, and a 95% reduction in planner workload. Thank you, Professor. We would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4B400"/>
          </a:solidFill>
          <a:ln/>
        </p:spPr>
      </p:sp>
      <p:sp>
        <p:nvSpPr>
          <p:cNvPr id="3" name="Shape 1"/>
          <p:cNvSpPr/>
          <p:nvPr/>
        </p:nvSpPr>
        <p:spPr>
          <a:xfrm>
            <a:off x="8351215" y="-2011680"/>
            <a:ext cx="5943600" cy="5943600"/>
          </a:xfrm>
          <a:prstGeom prst="ellipse">
            <a:avLst/>
          </a:prstGeom>
          <a:solidFill>
            <a:srgbClr val="012A6E"/>
          </a:solidFill>
          <a:ln/>
        </p:spPr>
      </p:sp>
      <p:sp>
        <p:nvSpPr>
          <p:cNvPr id="4" name="Shape 2"/>
          <p:cNvSpPr/>
          <p:nvPr/>
        </p:nvSpPr>
        <p:spPr>
          <a:xfrm>
            <a:off x="9814255" y="3108960"/>
            <a:ext cx="3840480" cy="3840480"/>
          </a:xfrm>
          <a:prstGeom prst="ellipse">
            <a:avLst/>
          </a:prstGeom>
          <a:solidFill>
            <a:srgbClr val="0277BD">
              <a:alpha val="40000"/>
            </a:srgbClr>
          </a:solidFill>
          <a:ln/>
        </p:spPr>
      </p:sp>
      <p:sp>
        <p:nvSpPr>
          <p:cNvPr id="5" name="Text 3"/>
          <p:cNvSpPr/>
          <p:nvPr/>
        </p:nvSpPr>
        <p:spPr>
          <a:xfrm>
            <a:off x="731520" y="868680"/>
            <a:ext cx="10058400" cy="365760"/>
          </a:xfrm>
          <a:prstGeom prst="rect">
            <a:avLst/>
          </a:prstGeom>
          <a:noFill/>
          <a:ln/>
        </p:spPr>
        <p:txBody>
          <a:bodyPr wrap="square" lIns="0" tIns="0" rIns="0" bIns="0" rtlCol="0" anchor="ctr"/>
          <a:lstStyle/>
          <a:p>
            <a:pPr indent="0" marL="0">
              <a:buNone/>
            </a:pPr>
            <a:r>
              <a:rPr lang="en-US" sz="1300" b="1" spc="400" kern="0" dirty="0">
                <a:solidFill>
                  <a:srgbClr val="F4B400"/>
                </a:solidFill>
              </a:rPr>
              <a:t>IIM CALCUTTA  ·  CAPSTONE 8  ·  GROUP 8</a:t>
            </a:r>
            <a:endParaRPr lang="en-US" sz="1300" dirty="0"/>
          </a:p>
        </p:txBody>
      </p:sp>
      <p:sp>
        <p:nvSpPr>
          <p:cNvPr id="6" name="Text 4"/>
          <p:cNvSpPr/>
          <p:nvPr/>
        </p:nvSpPr>
        <p:spPr>
          <a:xfrm>
            <a:off x="731520" y="1417320"/>
            <a:ext cx="8961120" cy="2194560"/>
          </a:xfrm>
          <a:prstGeom prst="rect">
            <a:avLst/>
          </a:prstGeom>
          <a:noFill/>
          <a:ln/>
        </p:spPr>
        <p:txBody>
          <a:bodyPr wrap="square" lIns="0" tIns="0" rIns="0" bIns="0" rtlCol="0" anchor="ctr"/>
          <a:lstStyle/>
          <a:p>
            <a:pPr indent="0" marL="0">
              <a:lnSpc>
                <a:spcPts val="5200"/>
              </a:lnSpc>
              <a:buNone/>
            </a:pPr>
            <a:r>
              <a:rPr lang="en-US" sz="4800" b="1" dirty="0">
                <a:solidFill>
                  <a:srgbClr val="FFFFFF"/>
                </a:solidFill>
                <a:latin typeface="Georgia" pitchFamily="34" charset="0"/>
                <a:ea typeface="Georgia" pitchFamily="34" charset="-122"/>
                <a:cs typeface="Georgia" pitchFamily="34" charset="-120"/>
              </a:rPr>
              <a:t>Lowe's Store-Level</a:t>
            </a:r>
            <a:endParaRPr lang="en-US" sz="4800" dirty="0"/>
          </a:p>
          <a:p>
            <a:pPr indent="0" marL="0">
              <a:lnSpc>
                <a:spcPts val="5200"/>
              </a:lnSpc>
              <a:buNone/>
            </a:pPr>
            <a:r>
              <a:rPr lang="en-US" sz="4800" b="1" dirty="0">
                <a:solidFill>
                  <a:srgbClr val="FFFFFF"/>
                </a:solidFill>
                <a:latin typeface="Georgia" pitchFamily="34" charset="0"/>
                <a:ea typeface="Georgia" pitchFamily="34" charset="-122"/>
                <a:cs typeface="Georgia" pitchFamily="34" charset="-120"/>
              </a:rPr>
              <a:t>AI Sales Targeting</a:t>
            </a:r>
            <a:endParaRPr lang="en-US" sz="4800" dirty="0"/>
          </a:p>
        </p:txBody>
      </p:sp>
      <p:sp>
        <p:nvSpPr>
          <p:cNvPr id="7" name="Text 5"/>
          <p:cNvSpPr/>
          <p:nvPr/>
        </p:nvSpPr>
        <p:spPr>
          <a:xfrm>
            <a:off x="731520" y="3657600"/>
            <a:ext cx="8412480" cy="731520"/>
          </a:xfrm>
          <a:prstGeom prst="rect">
            <a:avLst/>
          </a:prstGeom>
          <a:noFill/>
          <a:ln/>
        </p:spPr>
        <p:txBody>
          <a:bodyPr wrap="square" lIns="0" tIns="0" rIns="0" bIns="0" rtlCol="0" anchor="ctr"/>
          <a:lstStyle/>
          <a:p>
            <a:pPr indent="0" marL="0">
              <a:buNone/>
            </a:pPr>
            <a:r>
              <a:rPr lang="en-US" sz="1600" i="1" dirty="0">
                <a:solidFill>
                  <a:srgbClr val="CADCFC"/>
                </a:solidFill>
              </a:rPr>
              <a:t>Replacing the peanut-butter spread with a supervised ML model that learns local market dynamics</a:t>
            </a:r>
            <a:endParaRPr lang="en-US" sz="1600" dirty="0"/>
          </a:p>
        </p:txBody>
      </p:sp>
      <p:sp>
        <p:nvSpPr>
          <p:cNvPr id="8" name="Shape 6"/>
          <p:cNvSpPr/>
          <p:nvPr/>
        </p:nvSpPr>
        <p:spPr>
          <a:xfrm>
            <a:off x="731520" y="4617720"/>
            <a:ext cx="7680960" cy="1691640"/>
          </a:xfrm>
          <a:prstGeom prst="roundRect">
            <a:avLst>
              <a:gd name="adj" fmla="val 4324"/>
            </a:avLst>
          </a:prstGeom>
          <a:solidFill>
            <a:srgbClr val="012A6E"/>
          </a:solidFill>
          <a:ln/>
          <a:effectLst>
            <a:outerShdw sx="100000" sy="100000" kx="0" ky="0" algn="bl" rotWithShape="0" blurRad="101600" dist="38100" dir="8100000">
              <a:srgbClr val="0A1F44">
                <a:alpha val="16000"/>
              </a:srgbClr>
            </a:outerShdw>
          </a:effectLst>
        </p:spPr>
      </p:sp>
      <p:sp>
        <p:nvSpPr>
          <p:cNvPr id="9" name="Text 7"/>
          <p:cNvSpPr/>
          <p:nvPr/>
        </p:nvSpPr>
        <p:spPr>
          <a:xfrm>
            <a:off x="914400" y="4709160"/>
            <a:ext cx="7315200" cy="320040"/>
          </a:xfrm>
          <a:prstGeom prst="rect">
            <a:avLst/>
          </a:prstGeom>
          <a:noFill/>
          <a:ln/>
        </p:spPr>
        <p:txBody>
          <a:bodyPr wrap="square" lIns="0" tIns="0" rIns="0" bIns="0" rtlCol="0" anchor="ctr"/>
          <a:lstStyle/>
          <a:p>
            <a:pPr indent="0" marL="0">
              <a:buNone/>
            </a:pPr>
            <a:r>
              <a:rPr lang="en-US" sz="1100" b="1" spc="300" kern="0" dirty="0">
                <a:solidFill>
                  <a:srgbClr val="F4B400"/>
                </a:solidFill>
              </a:rPr>
              <a:t>TEAM MEMBERS</a:t>
            </a:r>
            <a:endParaRPr lang="en-US" sz="1100" dirty="0"/>
          </a:p>
        </p:txBody>
      </p:sp>
      <p:sp>
        <p:nvSpPr>
          <p:cNvPr id="10" name="Shape 8"/>
          <p:cNvSpPr/>
          <p:nvPr/>
        </p:nvSpPr>
        <p:spPr>
          <a:xfrm>
            <a:off x="914400" y="5029200"/>
            <a:ext cx="73152" cy="384048"/>
          </a:xfrm>
          <a:prstGeom prst="rect">
            <a:avLst/>
          </a:prstGeom>
          <a:solidFill>
            <a:srgbClr val="F4B400"/>
          </a:solidFill>
          <a:ln/>
        </p:spPr>
      </p:sp>
      <p:sp>
        <p:nvSpPr>
          <p:cNvPr id="11" name="Text 9"/>
          <p:cNvSpPr/>
          <p:nvPr/>
        </p:nvSpPr>
        <p:spPr>
          <a:xfrm>
            <a:off x="1078992" y="5029200"/>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1</a:t>
            </a:r>
            <a:endParaRPr lang="en-US" sz="1300" dirty="0"/>
          </a:p>
        </p:txBody>
      </p:sp>
      <p:sp>
        <p:nvSpPr>
          <p:cNvPr id="12" name="Shape 10"/>
          <p:cNvSpPr/>
          <p:nvPr/>
        </p:nvSpPr>
        <p:spPr>
          <a:xfrm>
            <a:off x="2743200" y="5029200"/>
            <a:ext cx="73152" cy="384048"/>
          </a:xfrm>
          <a:prstGeom prst="rect">
            <a:avLst/>
          </a:prstGeom>
          <a:solidFill>
            <a:srgbClr val="F4B400"/>
          </a:solidFill>
          <a:ln/>
        </p:spPr>
      </p:sp>
      <p:sp>
        <p:nvSpPr>
          <p:cNvPr id="13" name="Text 11"/>
          <p:cNvSpPr/>
          <p:nvPr/>
        </p:nvSpPr>
        <p:spPr>
          <a:xfrm>
            <a:off x="2907792" y="5029200"/>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2</a:t>
            </a:r>
            <a:endParaRPr lang="en-US" sz="1300" dirty="0"/>
          </a:p>
        </p:txBody>
      </p:sp>
      <p:sp>
        <p:nvSpPr>
          <p:cNvPr id="14" name="Shape 12"/>
          <p:cNvSpPr/>
          <p:nvPr/>
        </p:nvSpPr>
        <p:spPr>
          <a:xfrm>
            <a:off x="4572000" y="5029200"/>
            <a:ext cx="73152" cy="384048"/>
          </a:xfrm>
          <a:prstGeom prst="rect">
            <a:avLst/>
          </a:prstGeom>
          <a:solidFill>
            <a:srgbClr val="F4B400"/>
          </a:solidFill>
          <a:ln/>
        </p:spPr>
      </p:sp>
      <p:sp>
        <p:nvSpPr>
          <p:cNvPr id="15" name="Text 13"/>
          <p:cNvSpPr/>
          <p:nvPr/>
        </p:nvSpPr>
        <p:spPr>
          <a:xfrm>
            <a:off x="4736592" y="5029200"/>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3</a:t>
            </a:r>
            <a:endParaRPr lang="en-US" sz="1300" dirty="0"/>
          </a:p>
        </p:txBody>
      </p:sp>
      <p:sp>
        <p:nvSpPr>
          <p:cNvPr id="16" name="Shape 14"/>
          <p:cNvSpPr/>
          <p:nvPr/>
        </p:nvSpPr>
        <p:spPr>
          <a:xfrm>
            <a:off x="6400800" y="5029200"/>
            <a:ext cx="73152" cy="384048"/>
          </a:xfrm>
          <a:prstGeom prst="rect">
            <a:avLst/>
          </a:prstGeom>
          <a:solidFill>
            <a:srgbClr val="F4B400"/>
          </a:solidFill>
          <a:ln/>
        </p:spPr>
      </p:sp>
      <p:sp>
        <p:nvSpPr>
          <p:cNvPr id="17" name="Text 15"/>
          <p:cNvSpPr/>
          <p:nvPr/>
        </p:nvSpPr>
        <p:spPr>
          <a:xfrm>
            <a:off x="6565392" y="5029200"/>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4</a:t>
            </a:r>
            <a:endParaRPr lang="en-US" sz="1300" dirty="0"/>
          </a:p>
        </p:txBody>
      </p:sp>
      <p:sp>
        <p:nvSpPr>
          <p:cNvPr id="18" name="Shape 16"/>
          <p:cNvSpPr/>
          <p:nvPr/>
        </p:nvSpPr>
        <p:spPr>
          <a:xfrm>
            <a:off x="914400" y="5596128"/>
            <a:ext cx="73152" cy="384048"/>
          </a:xfrm>
          <a:prstGeom prst="rect">
            <a:avLst/>
          </a:prstGeom>
          <a:solidFill>
            <a:srgbClr val="F4B400"/>
          </a:solidFill>
          <a:ln/>
        </p:spPr>
      </p:sp>
      <p:sp>
        <p:nvSpPr>
          <p:cNvPr id="19" name="Text 17"/>
          <p:cNvSpPr/>
          <p:nvPr/>
        </p:nvSpPr>
        <p:spPr>
          <a:xfrm>
            <a:off x="1078992" y="5596128"/>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5</a:t>
            </a:r>
            <a:endParaRPr lang="en-US" sz="1300" dirty="0"/>
          </a:p>
        </p:txBody>
      </p:sp>
      <p:sp>
        <p:nvSpPr>
          <p:cNvPr id="20" name="Shape 18"/>
          <p:cNvSpPr/>
          <p:nvPr/>
        </p:nvSpPr>
        <p:spPr>
          <a:xfrm>
            <a:off x="2743200" y="5596128"/>
            <a:ext cx="73152" cy="384048"/>
          </a:xfrm>
          <a:prstGeom prst="rect">
            <a:avLst/>
          </a:prstGeom>
          <a:solidFill>
            <a:srgbClr val="F4B400"/>
          </a:solidFill>
          <a:ln/>
        </p:spPr>
      </p:sp>
      <p:sp>
        <p:nvSpPr>
          <p:cNvPr id="21" name="Text 19"/>
          <p:cNvSpPr/>
          <p:nvPr/>
        </p:nvSpPr>
        <p:spPr>
          <a:xfrm>
            <a:off x="2907792" y="5596128"/>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6</a:t>
            </a:r>
            <a:endParaRPr lang="en-US" sz="1300" dirty="0"/>
          </a:p>
        </p:txBody>
      </p:sp>
      <p:sp>
        <p:nvSpPr>
          <p:cNvPr id="22" name="Shape 20"/>
          <p:cNvSpPr/>
          <p:nvPr/>
        </p:nvSpPr>
        <p:spPr>
          <a:xfrm>
            <a:off x="4572000" y="5596128"/>
            <a:ext cx="73152" cy="384048"/>
          </a:xfrm>
          <a:prstGeom prst="rect">
            <a:avLst/>
          </a:prstGeom>
          <a:solidFill>
            <a:srgbClr val="F4B400"/>
          </a:solidFill>
          <a:ln/>
        </p:spPr>
      </p:sp>
      <p:sp>
        <p:nvSpPr>
          <p:cNvPr id="23" name="Text 21"/>
          <p:cNvSpPr/>
          <p:nvPr/>
        </p:nvSpPr>
        <p:spPr>
          <a:xfrm>
            <a:off x="4736592" y="5596128"/>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7</a:t>
            </a:r>
            <a:endParaRPr lang="en-US" sz="1300" dirty="0"/>
          </a:p>
        </p:txBody>
      </p:sp>
      <p:sp>
        <p:nvSpPr>
          <p:cNvPr id="24" name="Shape 22"/>
          <p:cNvSpPr/>
          <p:nvPr/>
        </p:nvSpPr>
        <p:spPr>
          <a:xfrm>
            <a:off x="6400800" y="5596128"/>
            <a:ext cx="73152" cy="384048"/>
          </a:xfrm>
          <a:prstGeom prst="rect">
            <a:avLst/>
          </a:prstGeom>
          <a:solidFill>
            <a:srgbClr val="F4B400"/>
          </a:solidFill>
          <a:ln/>
        </p:spPr>
      </p:sp>
      <p:sp>
        <p:nvSpPr>
          <p:cNvPr id="25" name="Text 23"/>
          <p:cNvSpPr/>
          <p:nvPr/>
        </p:nvSpPr>
        <p:spPr>
          <a:xfrm>
            <a:off x="6565392" y="5596128"/>
            <a:ext cx="1600200" cy="384048"/>
          </a:xfrm>
          <a:prstGeom prst="rect">
            <a:avLst/>
          </a:prstGeom>
          <a:noFill/>
          <a:ln/>
        </p:spPr>
        <p:txBody>
          <a:bodyPr wrap="square" lIns="0" tIns="0" rIns="0" bIns="0" rtlCol="0" anchor="ctr"/>
          <a:lstStyle/>
          <a:p>
            <a:pPr indent="0" marL="0">
              <a:buNone/>
            </a:pPr>
            <a:r>
              <a:rPr lang="en-US" sz="1300" b="1" dirty="0">
                <a:solidFill>
                  <a:srgbClr val="FFFFFF"/>
                </a:solidFill>
              </a:rPr>
              <a:t>Member 8</a:t>
            </a:r>
            <a:endParaRPr lang="en-US" sz="1300" dirty="0"/>
          </a:p>
        </p:txBody>
      </p:sp>
      <p:sp>
        <p:nvSpPr>
          <p:cNvPr id="26" name="Text 24"/>
          <p:cNvSpPr/>
          <p:nvPr/>
        </p:nvSpPr>
        <p:spPr>
          <a:xfrm>
            <a:off x="731520" y="6492240"/>
            <a:ext cx="7315200" cy="274320"/>
          </a:xfrm>
          <a:prstGeom prst="rect">
            <a:avLst/>
          </a:prstGeom>
          <a:noFill/>
          <a:ln/>
        </p:spPr>
        <p:txBody>
          <a:bodyPr wrap="square" lIns="0" tIns="0" rIns="0" bIns="0" rtlCol="0" anchor="ctr"/>
          <a:lstStyle/>
          <a:p>
            <a:pPr indent="0" marL="0">
              <a:buNone/>
            </a:pPr>
            <a:r>
              <a:rPr lang="en-US" sz="1100" i="1" dirty="0">
                <a:solidFill>
                  <a:srgbClr val="CADCFC"/>
                </a:solidFill>
              </a:rPr>
              <a:t>github.com/nishthaspeakx/capstone_8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300" kern="0" dirty="0">
                <a:solidFill>
                  <a:srgbClr val="0277BD"/>
                </a:solidFill>
              </a:rPr>
              <a:t>THE PROBLEM</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dirty="0">
                <a:solidFill>
                  <a:srgbClr val="003087"/>
                </a:solidFill>
                <a:latin typeface="Georgia" pitchFamily="34" charset="0"/>
                <a:ea typeface="Georgia" pitchFamily="34" charset="-122"/>
                <a:cs typeface="Georgia" pitchFamily="34" charset="-120"/>
              </a:rPr>
              <a:t>Today's targets ignore local reality</a:t>
            </a:r>
            <a:endParaRPr lang="en-US" sz="3200" dirty="0"/>
          </a:p>
        </p:txBody>
      </p:sp>
      <p:sp>
        <p:nvSpPr>
          <p:cNvPr id="4" name="Text 2"/>
          <p:cNvSpPr/>
          <p:nvPr/>
        </p:nvSpPr>
        <p:spPr>
          <a:xfrm>
            <a:off x="548640" y="1783080"/>
            <a:ext cx="6858000" cy="1371600"/>
          </a:xfrm>
          <a:prstGeom prst="rect">
            <a:avLst/>
          </a:prstGeom>
          <a:noFill/>
          <a:ln/>
        </p:spPr>
        <p:txBody>
          <a:bodyPr wrap="square" rtlCol="0" anchor="ctr"/>
          <a:lstStyle/>
          <a:p>
            <a:pPr indent="0" marL="0">
              <a:lnSpc>
                <a:spcPts val="2400"/>
              </a:lnSpc>
              <a:buNone/>
            </a:pPr>
            <a:r>
              <a:rPr lang="en-US" sz="1600" b="1" dirty="0">
                <a:solidFill>
                  <a:srgbClr val="003087"/>
                </a:solidFill>
              </a:rPr>
              <a:t>How Lowe's sets targets today: </a:t>
            </a:r>
            <a:pPr indent="0" marL="0">
              <a:lnSpc>
                <a:spcPts val="2400"/>
              </a:lnSpc>
              <a:buNone/>
            </a:pPr>
            <a:r>
              <a:rPr lang="en-US" sz="1600" dirty="0">
                <a:solidFill>
                  <a:srgbClr val="1A2332"/>
                </a:solidFill>
              </a:rPr>
              <a:t>the total company plan is divided across ~1,727 stores using each store's 3-year historical sales share — a flat allocation that ignores local market reality.</a:t>
            </a:r>
            <a:endParaRPr lang="en-US" sz="1600" dirty="0"/>
          </a:p>
        </p:txBody>
      </p:sp>
      <p:sp>
        <p:nvSpPr>
          <p:cNvPr id="5" name="Shape 3"/>
          <p:cNvSpPr/>
          <p:nvPr/>
        </p:nvSpPr>
        <p:spPr>
          <a:xfrm>
            <a:off x="548640" y="3246120"/>
            <a:ext cx="73152" cy="594360"/>
          </a:xfrm>
          <a:prstGeom prst="rect">
            <a:avLst/>
          </a:prstGeom>
          <a:solidFill>
            <a:srgbClr val="E65100"/>
          </a:solidFill>
          <a:ln/>
        </p:spPr>
      </p:sp>
      <p:sp>
        <p:nvSpPr>
          <p:cNvPr id="6" name="Text 4"/>
          <p:cNvSpPr/>
          <p:nvPr/>
        </p:nvSpPr>
        <p:spPr>
          <a:xfrm>
            <a:off x="777240" y="3246120"/>
            <a:ext cx="6583680" cy="594360"/>
          </a:xfrm>
          <a:prstGeom prst="rect">
            <a:avLst/>
          </a:prstGeom>
          <a:noFill/>
          <a:ln/>
        </p:spPr>
        <p:txBody>
          <a:bodyPr wrap="square" lIns="0" tIns="0" rIns="0" bIns="0" rtlCol="0" anchor="ctr"/>
          <a:lstStyle/>
          <a:p>
            <a:pPr indent="0" marL="0">
              <a:buNone/>
            </a:pPr>
            <a:r>
              <a:rPr lang="en-US" sz="1400" dirty="0">
                <a:solidFill>
                  <a:srgbClr val="1A2332"/>
                </a:solidFill>
              </a:rPr>
              <a:t>A booming new-construction suburb gets the SAME growth rate as a declining rural town</a:t>
            </a:r>
            <a:endParaRPr lang="en-US" sz="1400" dirty="0"/>
          </a:p>
        </p:txBody>
      </p:sp>
      <p:sp>
        <p:nvSpPr>
          <p:cNvPr id="7" name="Shape 5"/>
          <p:cNvSpPr/>
          <p:nvPr/>
        </p:nvSpPr>
        <p:spPr>
          <a:xfrm>
            <a:off x="548640" y="4023360"/>
            <a:ext cx="73152" cy="594360"/>
          </a:xfrm>
          <a:prstGeom prst="rect">
            <a:avLst/>
          </a:prstGeom>
          <a:solidFill>
            <a:srgbClr val="E65100"/>
          </a:solidFill>
          <a:ln/>
        </p:spPr>
      </p:sp>
      <p:sp>
        <p:nvSpPr>
          <p:cNvPr id="8" name="Text 6"/>
          <p:cNvSpPr/>
          <p:nvPr/>
        </p:nvSpPr>
        <p:spPr>
          <a:xfrm>
            <a:off x="777240" y="4023360"/>
            <a:ext cx="6583680" cy="594360"/>
          </a:xfrm>
          <a:prstGeom prst="rect">
            <a:avLst/>
          </a:prstGeom>
          <a:noFill/>
          <a:ln/>
        </p:spPr>
        <p:txBody>
          <a:bodyPr wrap="square" lIns="0" tIns="0" rIns="0" bIns="0" rtlCol="0" anchor="ctr"/>
          <a:lstStyle/>
          <a:p>
            <a:pPr indent="0" marL="0">
              <a:buNone/>
            </a:pPr>
            <a:r>
              <a:rPr lang="en-US" sz="1400" dirty="0">
                <a:solidFill>
                  <a:srgbClr val="1A2332"/>
                </a:solidFill>
              </a:rPr>
              <a:t>Demographics, housing age, income, competition — all invisible to the method</a:t>
            </a:r>
            <a:endParaRPr lang="en-US" sz="1400" dirty="0"/>
          </a:p>
        </p:txBody>
      </p:sp>
      <p:sp>
        <p:nvSpPr>
          <p:cNvPr id="9" name="Shape 7"/>
          <p:cNvSpPr/>
          <p:nvPr/>
        </p:nvSpPr>
        <p:spPr>
          <a:xfrm>
            <a:off x="548640" y="4800600"/>
            <a:ext cx="73152" cy="594360"/>
          </a:xfrm>
          <a:prstGeom prst="rect">
            <a:avLst/>
          </a:prstGeom>
          <a:solidFill>
            <a:srgbClr val="C62828"/>
          </a:solidFill>
          <a:ln/>
        </p:spPr>
      </p:sp>
      <p:sp>
        <p:nvSpPr>
          <p:cNvPr id="10" name="Text 8"/>
          <p:cNvSpPr/>
          <p:nvPr/>
        </p:nvSpPr>
        <p:spPr>
          <a:xfrm>
            <a:off x="777240" y="4800600"/>
            <a:ext cx="6583680" cy="594360"/>
          </a:xfrm>
          <a:prstGeom prst="rect">
            <a:avLst/>
          </a:prstGeom>
          <a:noFill/>
          <a:ln/>
        </p:spPr>
        <p:txBody>
          <a:bodyPr wrap="square" lIns="0" tIns="0" rIns="0" bIns="0" rtlCol="0" anchor="ctr"/>
          <a:lstStyle/>
          <a:p>
            <a:pPr indent="0" marL="0">
              <a:buNone/>
            </a:pPr>
            <a:r>
              <a:rPr lang="en-US" sz="1400" dirty="0">
                <a:solidFill>
                  <a:srgbClr val="1A2332"/>
                </a:solidFill>
              </a:rPr>
              <a:t>Planners spend the whole year manually overriding wrong targets</a:t>
            </a:r>
            <a:endParaRPr lang="en-US" sz="1400" dirty="0"/>
          </a:p>
        </p:txBody>
      </p:sp>
      <p:sp>
        <p:nvSpPr>
          <p:cNvPr id="11" name="Shape 9"/>
          <p:cNvSpPr/>
          <p:nvPr/>
        </p:nvSpPr>
        <p:spPr>
          <a:xfrm>
            <a:off x="7772400" y="1783080"/>
            <a:ext cx="3931920" cy="3931920"/>
          </a:xfrm>
          <a:prstGeom prst="roundRect">
            <a:avLst>
              <a:gd name="adj" fmla="val 1860"/>
            </a:avLst>
          </a:prstGeom>
          <a:solidFill>
            <a:srgbClr val="003087"/>
          </a:solidFill>
          <a:ln/>
          <a:effectLst>
            <a:outerShdw sx="100000" sy="100000" kx="0" ky="0" algn="bl" rotWithShape="0" blurRad="101600" dist="38100" dir="8100000">
              <a:srgbClr val="0A1F44">
                <a:alpha val="16000"/>
              </a:srgbClr>
            </a:outerShdw>
          </a:effectLst>
        </p:spPr>
      </p:sp>
      <p:sp>
        <p:nvSpPr>
          <p:cNvPr id="12" name="Text 10"/>
          <p:cNvSpPr/>
          <p:nvPr/>
        </p:nvSpPr>
        <p:spPr>
          <a:xfrm>
            <a:off x="7772400" y="2194560"/>
            <a:ext cx="3931920" cy="1371600"/>
          </a:xfrm>
          <a:prstGeom prst="rect">
            <a:avLst/>
          </a:prstGeom>
          <a:noFill/>
          <a:ln/>
        </p:spPr>
        <p:txBody>
          <a:bodyPr wrap="square" lIns="0" tIns="0" rIns="0" bIns="0" rtlCol="0" anchor="ctr"/>
          <a:lstStyle/>
          <a:p>
            <a:pPr algn="ctr" indent="0" marL="0">
              <a:buNone/>
            </a:pPr>
            <a:r>
              <a:rPr lang="en-US" sz="6400" b="1" dirty="0">
                <a:solidFill>
                  <a:srgbClr val="F4B400"/>
                </a:solidFill>
              </a:rPr>
              <a:t>25.83%</a:t>
            </a:r>
            <a:endParaRPr lang="en-US" sz="6400" dirty="0"/>
          </a:p>
        </p:txBody>
      </p:sp>
      <p:sp>
        <p:nvSpPr>
          <p:cNvPr id="13" name="Text 11"/>
          <p:cNvSpPr/>
          <p:nvPr/>
        </p:nvSpPr>
        <p:spPr>
          <a:xfrm>
            <a:off x="7955280" y="3611880"/>
            <a:ext cx="3566160" cy="1371600"/>
          </a:xfrm>
          <a:prstGeom prst="rect">
            <a:avLst/>
          </a:prstGeom>
          <a:noFill/>
          <a:ln/>
        </p:spPr>
        <p:txBody>
          <a:bodyPr wrap="square" rtlCol="0" anchor="ctr"/>
          <a:lstStyle/>
          <a:p>
            <a:pPr algn="ctr" indent="0" marL="0">
              <a:lnSpc>
                <a:spcPts val="2200"/>
              </a:lnSpc>
              <a:buNone/>
            </a:pPr>
            <a:r>
              <a:rPr lang="en-US" sz="1500" dirty="0">
                <a:solidFill>
                  <a:srgbClr val="FFFFFF"/>
                </a:solidFill>
              </a:rPr>
              <a:t>of store-weeks miss target</a:t>
            </a:r>
            <a:endParaRPr lang="en-US" sz="1500" dirty="0"/>
          </a:p>
          <a:p>
            <a:pPr algn="ctr" indent="0" marL="0">
              <a:lnSpc>
                <a:spcPts val="2200"/>
              </a:lnSpc>
              <a:buNone/>
            </a:pPr>
            <a:r>
              <a:rPr lang="en-US" sz="1500" dirty="0">
                <a:solidFill>
                  <a:srgbClr val="FFFFFF"/>
                </a:solidFill>
              </a:rPr>
              <a:t>by more than ±10%</a:t>
            </a:r>
            <a:endParaRPr lang="en-US" sz="1500" dirty="0"/>
          </a:p>
          <a:p>
            <a:pPr algn="ctr" indent="0" marL="0">
              <a:lnSpc>
                <a:spcPts val="2200"/>
              </a:lnSpc>
              <a:buNone/>
            </a:pPr>
            <a:r>
              <a:rPr lang="en-US" sz="1500" dirty="0">
                <a:solidFill>
                  <a:srgbClr val="FFFFFF"/>
                </a:solidFill>
              </a:rPr>
              <a:t>under the current method</a:t>
            </a:r>
            <a:endParaRPr lang="en-US" sz="1500" dirty="0"/>
          </a:p>
        </p:txBody>
      </p:sp>
      <p:sp>
        <p:nvSpPr>
          <p:cNvPr id="14" name="Text 12"/>
          <p:cNvSpPr/>
          <p:nvPr/>
        </p:nvSpPr>
        <p:spPr>
          <a:xfrm>
            <a:off x="7772400" y="5120640"/>
            <a:ext cx="3931920" cy="411480"/>
          </a:xfrm>
          <a:prstGeom prst="rect">
            <a:avLst/>
          </a:prstGeom>
          <a:noFill/>
          <a:ln/>
        </p:spPr>
        <p:txBody>
          <a:bodyPr wrap="square" rtlCol="0" anchor="ctr"/>
          <a:lstStyle/>
          <a:p>
            <a:pPr algn="ctr" indent="0" marL="0">
              <a:buNone/>
            </a:pPr>
            <a:r>
              <a:rPr lang="en-US" sz="1200" i="1" dirty="0">
                <a:solidFill>
                  <a:srgbClr val="CADCFC"/>
                </a:solidFill>
              </a:rPr>
              <a:t>1 in 4 store-weeks need re-planning</a:t>
            </a:r>
            <a:endParaRPr lang="en-US" sz="1200" dirty="0"/>
          </a:p>
        </p:txBody>
      </p:sp>
      <p:sp>
        <p:nvSpPr>
          <p:cNvPr id="15" name="Shape 13"/>
          <p:cNvSpPr/>
          <p:nvPr/>
        </p:nvSpPr>
        <p:spPr>
          <a:xfrm>
            <a:off x="0" y="6565392"/>
            <a:ext cx="12191695" cy="292608"/>
          </a:xfrm>
          <a:prstGeom prst="rect">
            <a:avLst/>
          </a:prstGeom>
          <a:solidFill>
            <a:srgbClr val="003087"/>
          </a:solidFill>
          <a:ln/>
        </p:spPr>
      </p:sp>
      <p:sp>
        <p:nvSpPr>
          <p:cNvPr id="16" name="Text 14"/>
          <p:cNvSpPr/>
          <p:nvPr/>
        </p:nvSpPr>
        <p:spPr>
          <a:xfrm>
            <a:off x="457200" y="6565392"/>
            <a:ext cx="6400800" cy="292608"/>
          </a:xfrm>
          <a:prstGeom prst="rect">
            <a:avLst/>
          </a:prstGeom>
          <a:noFill/>
          <a:ln/>
        </p:spPr>
        <p:txBody>
          <a:bodyPr wrap="square" lIns="0" tIns="0" rIns="0" bIns="0" rtlCol="0" anchor="ctr"/>
          <a:lstStyle/>
          <a:p>
            <a:pPr indent="0" marL="0">
              <a:buNone/>
            </a:pPr>
            <a:r>
              <a:rPr lang="en-US" sz="900" dirty="0">
                <a:solidFill>
                  <a:srgbClr val="CADCFC"/>
                </a:solidFill>
              </a:rPr>
              <a:t>Capstone 8 · Group 8 · IIM Calcutta APAL02</a:t>
            </a:r>
            <a:endParaRPr lang="en-US" sz="900" dirty="0"/>
          </a:p>
        </p:txBody>
      </p:sp>
      <p:sp>
        <p:nvSpPr>
          <p:cNvPr id="17" name="Text 15"/>
          <p:cNvSpPr/>
          <p:nvPr/>
        </p:nvSpPr>
        <p:spPr>
          <a:xfrm>
            <a:off x="11094415" y="6565392"/>
            <a:ext cx="822960" cy="292608"/>
          </a:xfrm>
          <a:prstGeom prst="rect">
            <a:avLst/>
          </a:prstGeom>
          <a:noFill/>
          <a:ln/>
        </p:spPr>
        <p:txBody>
          <a:bodyPr wrap="square" lIns="0" tIns="0" rIns="0" bIns="0" rtlCol="0" anchor="ctr"/>
          <a:lstStyle/>
          <a:p>
            <a:pPr algn="r" indent="0" marL="0">
              <a:buNone/>
            </a:pPr>
            <a:r>
              <a:rPr lang="en-US" sz="900" dirty="0">
                <a:solidFill>
                  <a:srgbClr val="CADCFC"/>
                </a:solidFill>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300" kern="0" dirty="0">
                <a:solidFill>
                  <a:srgbClr val="0277BD"/>
                </a:solidFill>
              </a:rPr>
              <a:t>OUR SOLUTION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dirty="0">
                <a:solidFill>
                  <a:srgbClr val="003087"/>
                </a:solidFill>
                <a:latin typeface="Georgia" pitchFamily="34" charset="0"/>
                <a:ea typeface="Georgia" pitchFamily="34" charset="-122"/>
                <a:cs typeface="Georgia" pitchFamily="34" charset="-120"/>
              </a:rPr>
              <a:t>Supervised ML on 16 carefully chosen features</a:t>
            </a:r>
            <a:endParaRPr lang="en-US" sz="3200" dirty="0"/>
          </a:p>
        </p:txBody>
      </p:sp>
      <p:sp>
        <p:nvSpPr>
          <p:cNvPr id="4" name="Shape 2"/>
          <p:cNvSpPr/>
          <p:nvPr/>
        </p:nvSpPr>
        <p:spPr>
          <a:xfrm>
            <a:off x="548640" y="1783080"/>
            <a:ext cx="6400800" cy="713232"/>
          </a:xfrm>
          <a:prstGeom prst="roundRect">
            <a:avLst>
              <a:gd name="adj" fmla="val 10256"/>
            </a:avLst>
          </a:prstGeom>
          <a:solidFill>
            <a:srgbClr val="FFFFFF"/>
          </a:solidFill>
          <a:ln/>
          <a:effectLst>
            <a:outerShdw sx="100000" sy="100000" kx="0" ky="0" algn="bl" rotWithShape="0" blurRad="101600" dist="38100" dir="8100000">
              <a:srgbClr val="0A1F44">
                <a:alpha val="16000"/>
              </a:srgbClr>
            </a:outerShdw>
          </a:effectLst>
        </p:spPr>
      </p:sp>
      <p:sp>
        <p:nvSpPr>
          <p:cNvPr id="5" name="Shape 3"/>
          <p:cNvSpPr/>
          <p:nvPr/>
        </p:nvSpPr>
        <p:spPr>
          <a:xfrm>
            <a:off x="548640" y="1783080"/>
            <a:ext cx="82296" cy="713232"/>
          </a:xfrm>
          <a:prstGeom prst="rect">
            <a:avLst/>
          </a:prstGeom>
          <a:solidFill>
            <a:srgbClr val="0277BD"/>
          </a:solidFill>
          <a:ln/>
        </p:spPr>
      </p:sp>
      <p:sp>
        <p:nvSpPr>
          <p:cNvPr id="6" name="Text 4"/>
          <p:cNvSpPr/>
          <p:nvPr/>
        </p:nvSpPr>
        <p:spPr>
          <a:xfrm>
            <a:off x="749808" y="1847088"/>
            <a:ext cx="5943600" cy="292608"/>
          </a:xfrm>
          <a:prstGeom prst="rect">
            <a:avLst/>
          </a:prstGeom>
          <a:noFill/>
          <a:ln/>
        </p:spPr>
        <p:txBody>
          <a:bodyPr wrap="square" lIns="0" tIns="0" rIns="0" bIns="0" rtlCol="0" anchor="ctr"/>
          <a:lstStyle/>
          <a:p>
            <a:pPr indent="0" marL="0">
              <a:buNone/>
            </a:pPr>
            <a:r>
              <a:rPr lang="en-US" sz="1300" b="1" dirty="0">
                <a:solidFill>
                  <a:srgbClr val="003087"/>
                </a:solidFill>
              </a:rPr>
              <a:t>Lag / Momentum (4)</a:t>
            </a:r>
            <a:endParaRPr lang="en-US" sz="1300" dirty="0"/>
          </a:p>
        </p:txBody>
      </p:sp>
      <p:sp>
        <p:nvSpPr>
          <p:cNvPr id="7" name="Text 5"/>
          <p:cNvSpPr/>
          <p:nvPr/>
        </p:nvSpPr>
        <p:spPr>
          <a:xfrm>
            <a:off x="749808" y="2139696"/>
            <a:ext cx="5943600" cy="292608"/>
          </a:xfrm>
          <a:prstGeom prst="rect">
            <a:avLst/>
          </a:prstGeom>
          <a:noFill/>
          <a:ln/>
        </p:spPr>
        <p:txBody>
          <a:bodyPr wrap="square" lIns="0" tIns="0" rIns="0" bIns="0" rtlCol="0" anchor="ctr"/>
          <a:lstStyle/>
          <a:p>
            <a:pPr indent="0" marL="0">
              <a:buNone/>
            </a:pPr>
            <a:r>
              <a:rPr lang="en-US" sz="1100" dirty="0">
                <a:solidFill>
                  <a:srgbClr val="1A2332"/>
                </a:solidFill>
              </a:rPr>
              <a:t>lag_1 · lag_4 · lag_13 · lag_52</a:t>
            </a:r>
            <a:endParaRPr lang="en-US" sz="1100" dirty="0"/>
          </a:p>
        </p:txBody>
      </p:sp>
      <p:sp>
        <p:nvSpPr>
          <p:cNvPr id="8" name="Shape 6"/>
          <p:cNvSpPr/>
          <p:nvPr/>
        </p:nvSpPr>
        <p:spPr>
          <a:xfrm>
            <a:off x="548640" y="2624328"/>
            <a:ext cx="6400800" cy="713232"/>
          </a:xfrm>
          <a:prstGeom prst="roundRect">
            <a:avLst>
              <a:gd name="adj" fmla="val 10256"/>
            </a:avLst>
          </a:prstGeom>
          <a:solidFill>
            <a:srgbClr val="FFFFFF"/>
          </a:solidFill>
          <a:ln/>
          <a:effectLst>
            <a:outerShdw sx="100000" sy="100000" kx="0" ky="0" algn="bl" rotWithShape="0" blurRad="101600" dist="38100" dir="8100000">
              <a:srgbClr val="0A1F44">
                <a:alpha val="16000"/>
              </a:srgbClr>
            </a:outerShdw>
          </a:effectLst>
        </p:spPr>
      </p:sp>
      <p:sp>
        <p:nvSpPr>
          <p:cNvPr id="9" name="Shape 7"/>
          <p:cNvSpPr/>
          <p:nvPr/>
        </p:nvSpPr>
        <p:spPr>
          <a:xfrm>
            <a:off x="548640" y="2624328"/>
            <a:ext cx="82296" cy="713232"/>
          </a:xfrm>
          <a:prstGeom prst="rect">
            <a:avLst/>
          </a:prstGeom>
          <a:solidFill>
            <a:srgbClr val="C2185B"/>
          </a:solidFill>
          <a:ln/>
        </p:spPr>
      </p:sp>
      <p:sp>
        <p:nvSpPr>
          <p:cNvPr id="10" name="Text 8"/>
          <p:cNvSpPr/>
          <p:nvPr/>
        </p:nvSpPr>
        <p:spPr>
          <a:xfrm>
            <a:off x="749808" y="2688336"/>
            <a:ext cx="5943600" cy="292608"/>
          </a:xfrm>
          <a:prstGeom prst="rect">
            <a:avLst/>
          </a:prstGeom>
          <a:noFill/>
          <a:ln/>
        </p:spPr>
        <p:txBody>
          <a:bodyPr wrap="square" lIns="0" tIns="0" rIns="0" bIns="0" rtlCol="0" anchor="ctr"/>
          <a:lstStyle/>
          <a:p>
            <a:pPr indent="0" marL="0">
              <a:buNone/>
            </a:pPr>
            <a:r>
              <a:rPr lang="en-US" sz="1300" b="1" dirty="0">
                <a:solidFill>
                  <a:srgbClr val="003087"/>
                </a:solidFill>
              </a:rPr>
              <a:t>Demand — Raw (5)</a:t>
            </a:r>
            <a:endParaRPr lang="en-US" sz="1300" dirty="0"/>
          </a:p>
        </p:txBody>
      </p:sp>
      <p:sp>
        <p:nvSpPr>
          <p:cNvPr id="11" name="Text 9"/>
          <p:cNvSpPr/>
          <p:nvPr/>
        </p:nvSpPr>
        <p:spPr>
          <a:xfrm>
            <a:off x="749808" y="2980944"/>
            <a:ext cx="5943600" cy="292608"/>
          </a:xfrm>
          <a:prstGeom prst="rect">
            <a:avLst/>
          </a:prstGeom>
          <a:noFill/>
          <a:ln/>
        </p:spPr>
        <p:txBody>
          <a:bodyPr wrap="square" lIns="0" tIns="0" rIns="0" bIns="0" rtlCol="0" anchor="ctr"/>
          <a:lstStyle/>
          <a:p>
            <a:pPr indent="0" marL="0">
              <a:buNone/>
            </a:pPr>
            <a:r>
              <a:rPr lang="en-US" sz="1100" dirty="0">
                <a:solidFill>
                  <a:srgbClr val="1A2332"/>
                </a:solidFill>
              </a:rPr>
              <a:t>Households · Density · Income · Housing Units · Population</a:t>
            </a:r>
            <a:endParaRPr lang="en-US" sz="1100" dirty="0"/>
          </a:p>
        </p:txBody>
      </p:sp>
      <p:sp>
        <p:nvSpPr>
          <p:cNvPr id="12" name="Shape 10"/>
          <p:cNvSpPr/>
          <p:nvPr/>
        </p:nvSpPr>
        <p:spPr>
          <a:xfrm>
            <a:off x="548640" y="3465576"/>
            <a:ext cx="6400800" cy="713232"/>
          </a:xfrm>
          <a:prstGeom prst="roundRect">
            <a:avLst>
              <a:gd name="adj" fmla="val 10256"/>
            </a:avLst>
          </a:prstGeom>
          <a:solidFill>
            <a:srgbClr val="FFFFFF"/>
          </a:solidFill>
          <a:ln/>
          <a:effectLst>
            <a:outerShdw sx="100000" sy="100000" kx="0" ky="0" algn="bl" rotWithShape="0" blurRad="101600" dist="38100" dir="8100000">
              <a:srgbClr val="0A1F44">
                <a:alpha val="16000"/>
              </a:srgbClr>
            </a:outerShdw>
          </a:effectLst>
        </p:spPr>
      </p:sp>
      <p:sp>
        <p:nvSpPr>
          <p:cNvPr id="13" name="Shape 11"/>
          <p:cNvSpPr/>
          <p:nvPr/>
        </p:nvSpPr>
        <p:spPr>
          <a:xfrm>
            <a:off x="548640" y="3465576"/>
            <a:ext cx="82296" cy="713232"/>
          </a:xfrm>
          <a:prstGeom prst="rect">
            <a:avLst/>
          </a:prstGeom>
          <a:solidFill>
            <a:srgbClr val="2E7D32"/>
          </a:solidFill>
          <a:ln/>
        </p:spPr>
      </p:sp>
      <p:sp>
        <p:nvSpPr>
          <p:cNvPr id="14" name="Text 12"/>
          <p:cNvSpPr/>
          <p:nvPr/>
        </p:nvSpPr>
        <p:spPr>
          <a:xfrm>
            <a:off x="749808" y="3529584"/>
            <a:ext cx="5943600" cy="292608"/>
          </a:xfrm>
          <a:prstGeom prst="rect">
            <a:avLst/>
          </a:prstGeom>
          <a:noFill/>
          <a:ln/>
        </p:spPr>
        <p:txBody>
          <a:bodyPr wrap="square" lIns="0" tIns="0" rIns="0" bIns="0" rtlCol="0" anchor="ctr"/>
          <a:lstStyle/>
          <a:p>
            <a:pPr indent="0" marL="0">
              <a:buNone/>
            </a:pPr>
            <a:r>
              <a:rPr lang="en-US" sz="1300" b="1" dirty="0">
                <a:solidFill>
                  <a:srgbClr val="003087"/>
                </a:solidFill>
              </a:rPr>
              <a:t>Demand — Engineered (3)</a:t>
            </a:r>
            <a:endParaRPr lang="en-US" sz="1300" dirty="0"/>
          </a:p>
        </p:txBody>
      </p:sp>
      <p:sp>
        <p:nvSpPr>
          <p:cNvPr id="15" name="Text 13"/>
          <p:cNvSpPr/>
          <p:nvPr/>
        </p:nvSpPr>
        <p:spPr>
          <a:xfrm>
            <a:off x="749808" y="3822192"/>
            <a:ext cx="5943600" cy="292608"/>
          </a:xfrm>
          <a:prstGeom prst="rect">
            <a:avLst/>
          </a:prstGeom>
          <a:noFill/>
          <a:ln/>
        </p:spPr>
        <p:txBody>
          <a:bodyPr wrap="square" lIns="0" tIns="0" rIns="0" bIns="0" rtlCol="0" anchor="ctr"/>
          <a:lstStyle/>
          <a:p>
            <a:pPr indent="0" marL="0">
              <a:buNone/>
            </a:pPr>
            <a:r>
              <a:rPr lang="en-US" sz="1100" dirty="0">
                <a:solidFill>
                  <a:srgbClr val="1A2332"/>
                </a:solidFill>
              </a:rPr>
              <a:t>income_affluent · housing_new · housing_old</a:t>
            </a:r>
            <a:endParaRPr lang="en-US" sz="1100" dirty="0"/>
          </a:p>
        </p:txBody>
      </p:sp>
      <p:sp>
        <p:nvSpPr>
          <p:cNvPr id="16" name="Shape 14"/>
          <p:cNvSpPr/>
          <p:nvPr/>
        </p:nvSpPr>
        <p:spPr>
          <a:xfrm>
            <a:off x="548640" y="4306824"/>
            <a:ext cx="6400800" cy="713232"/>
          </a:xfrm>
          <a:prstGeom prst="roundRect">
            <a:avLst>
              <a:gd name="adj" fmla="val 10256"/>
            </a:avLst>
          </a:prstGeom>
          <a:solidFill>
            <a:srgbClr val="FFFFFF"/>
          </a:solidFill>
          <a:ln/>
          <a:effectLst>
            <a:outerShdw sx="100000" sy="100000" kx="0" ky="0" algn="bl" rotWithShape="0" blurRad="101600" dist="38100" dir="8100000">
              <a:srgbClr val="0A1F44">
                <a:alpha val="16000"/>
              </a:srgbClr>
            </a:outerShdw>
          </a:effectLst>
        </p:spPr>
      </p:sp>
      <p:sp>
        <p:nvSpPr>
          <p:cNvPr id="17" name="Shape 15"/>
          <p:cNvSpPr/>
          <p:nvPr/>
        </p:nvSpPr>
        <p:spPr>
          <a:xfrm>
            <a:off x="548640" y="4306824"/>
            <a:ext cx="82296" cy="713232"/>
          </a:xfrm>
          <a:prstGeom prst="rect">
            <a:avLst/>
          </a:prstGeom>
          <a:solidFill>
            <a:srgbClr val="E65100"/>
          </a:solidFill>
          <a:ln/>
        </p:spPr>
      </p:sp>
      <p:sp>
        <p:nvSpPr>
          <p:cNvPr id="18" name="Text 16"/>
          <p:cNvSpPr/>
          <p:nvPr/>
        </p:nvSpPr>
        <p:spPr>
          <a:xfrm>
            <a:off x="749808" y="4370832"/>
            <a:ext cx="5943600" cy="292608"/>
          </a:xfrm>
          <a:prstGeom prst="rect">
            <a:avLst/>
          </a:prstGeom>
          <a:noFill/>
          <a:ln/>
        </p:spPr>
        <p:txBody>
          <a:bodyPr wrap="square" lIns="0" tIns="0" rIns="0" bIns="0" rtlCol="0" anchor="ctr"/>
          <a:lstStyle/>
          <a:p>
            <a:pPr indent="0" marL="0">
              <a:buNone/>
            </a:pPr>
            <a:r>
              <a:rPr lang="en-US" sz="1300" b="1" dirty="0">
                <a:solidFill>
                  <a:srgbClr val="003087"/>
                </a:solidFill>
              </a:rPr>
              <a:t>Competition + Store (4)</a:t>
            </a:r>
            <a:endParaRPr lang="en-US" sz="1300" dirty="0"/>
          </a:p>
        </p:txBody>
      </p:sp>
      <p:sp>
        <p:nvSpPr>
          <p:cNvPr id="19" name="Text 17"/>
          <p:cNvSpPr/>
          <p:nvPr/>
        </p:nvSpPr>
        <p:spPr>
          <a:xfrm>
            <a:off x="749808" y="4663440"/>
            <a:ext cx="5943600" cy="292608"/>
          </a:xfrm>
          <a:prstGeom prst="rect">
            <a:avLst/>
          </a:prstGeom>
          <a:noFill/>
          <a:ln/>
        </p:spPr>
        <p:txBody>
          <a:bodyPr wrap="square" lIns="0" tIns="0" rIns="0" bIns="0" rtlCol="0" anchor="ctr"/>
          <a:lstStyle/>
          <a:p>
            <a:pPr indent="0" marL="0">
              <a:buNone/>
            </a:pPr>
            <a:r>
              <a:rPr lang="en-US" sz="1100" dirty="0">
                <a:solidFill>
                  <a:srgbClr val="1A2332"/>
                </a:solidFill>
              </a:rPr>
              <a:t>Sister Stores · Total Competitors · Wallflowers · Urbanicity</a:t>
            </a:r>
            <a:endParaRPr lang="en-US" sz="1100" dirty="0"/>
          </a:p>
        </p:txBody>
      </p:sp>
      <p:sp>
        <p:nvSpPr>
          <p:cNvPr id="20" name="Shape 18"/>
          <p:cNvSpPr/>
          <p:nvPr/>
        </p:nvSpPr>
        <p:spPr>
          <a:xfrm>
            <a:off x="7178040" y="1783080"/>
            <a:ext cx="4572000" cy="3383280"/>
          </a:xfrm>
          <a:prstGeom prst="roundRect">
            <a:avLst>
              <a:gd name="adj" fmla="val 2162"/>
            </a:avLst>
          </a:prstGeom>
          <a:solidFill>
            <a:srgbClr val="FFFFFF"/>
          </a:solidFill>
          <a:ln/>
          <a:effectLst>
            <a:outerShdw sx="100000" sy="100000" kx="0" ky="0" algn="bl" rotWithShape="0" blurRad="101600" dist="38100" dir="8100000">
              <a:srgbClr val="0A1F44">
                <a:alpha val="16000"/>
              </a:srgbClr>
            </a:outerShdw>
          </a:effectLst>
        </p:spPr>
      </p:sp>
      <p:sp>
        <p:nvSpPr>
          <p:cNvPr id="21" name="Shape 19"/>
          <p:cNvSpPr/>
          <p:nvPr/>
        </p:nvSpPr>
        <p:spPr>
          <a:xfrm>
            <a:off x="7178040" y="1783080"/>
            <a:ext cx="4572000" cy="502920"/>
          </a:xfrm>
          <a:prstGeom prst="rect">
            <a:avLst/>
          </a:prstGeom>
          <a:solidFill>
            <a:srgbClr val="003087"/>
          </a:solidFill>
          <a:ln/>
        </p:spPr>
      </p:sp>
      <p:sp>
        <p:nvSpPr>
          <p:cNvPr id="22" name="Text 20"/>
          <p:cNvSpPr/>
          <p:nvPr/>
        </p:nvSpPr>
        <p:spPr>
          <a:xfrm>
            <a:off x="7360920" y="1783080"/>
            <a:ext cx="4297680" cy="502920"/>
          </a:xfrm>
          <a:prstGeom prst="rect">
            <a:avLst/>
          </a:prstGeom>
          <a:noFill/>
          <a:ln/>
        </p:spPr>
        <p:txBody>
          <a:bodyPr wrap="square" lIns="0" tIns="0" rIns="0" bIns="0" rtlCol="0" anchor="ctr"/>
          <a:lstStyle/>
          <a:p>
            <a:pPr indent="0" marL="0">
              <a:buNone/>
            </a:pPr>
            <a:r>
              <a:rPr lang="en-US" sz="1300" b="1" dirty="0">
                <a:solidFill>
                  <a:srgbClr val="FFFFFF"/>
                </a:solidFill>
              </a:rPr>
              <a:t>Built on rigorous methodology</a:t>
            </a:r>
            <a:endParaRPr lang="en-US" sz="1300" dirty="0"/>
          </a:p>
        </p:txBody>
      </p:sp>
      <p:sp>
        <p:nvSpPr>
          <p:cNvPr id="23" name="Text 21"/>
          <p:cNvSpPr/>
          <p:nvPr/>
        </p:nvSpPr>
        <p:spPr>
          <a:xfrm>
            <a:off x="7360920" y="2468880"/>
            <a:ext cx="4297680" cy="2606040"/>
          </a:xfrm>
          <a:prstGeom prst="rect">
            <a:avLst/>
          </a:prstGeom>
          <a:noFill/>
          <a:ln/>
        </p:spPr>
        <p:txBody>
          <a:bodyPr wrap="square" lIns="0" tIns="0" rIns="0" bIns="0" rtlCol="0" anchor="t"/>
          <a:lstStyle/>
          <a:p>
            <a:pPr indent="0" marL="0">
              <a:lnSpc>
                <a:spcPts val="1400"/>
              </a:lnSpc>
              <a:spcAft>
                <a:spcPts val="400"/>
              </a:spcAft>
              <a:buNone/>
            </a:pPr>
            <a:r>
              <a:rPr lang="en-US" sz="1100" b="1" dirty="0">
                <a:solidFill>
                  <a:srgbClr val="003087"/>
                </a:solidFill>
              </a:rPr>
              <a:t>Model:</a:t>
            </a:r>
            <a:endParaRPr lang="en-US" sz="1100" dirty="0"/>
          </a:p>
          <a:p>
            <a:pPr indent="0" marL="0">
              <a:lnSpc>
                <a:spcPts val="1400"/>
              </a:lnSpc>
              <a:spcAft>
                <a:spcPts val="1200"/>
              </a:spcAft>
              <a:buNone/>
            </a:pPr>
            <a:r>
              <a:rPr lang="en-US" sz="1100" dirty="0">
                <a:solidFill>
                  <a:srgbClr val="1A2332"/>
                </a:solidFill>
              </a:rPr>
              <a:t>XGBoost (vs LightGBM, Ridge, naive)</a:t>
            </a:r>
            <a:endParaRPr lang="en-US" sz="1100" dirty="0"/>
          </a:p>
          <a:p>
            <a:pPr indent="0" marL="0">
              <a:lnSpc>
                <a:spcPts val="1400"/>
              </a:lnSpc>
              <a:spcAft>
                <a:spcPts val="400"/>
              </a:spcAft>
              <a:buNone/>
            </a:pPr>
            <a:r>
              <a:rPr lang="en-US" sz="1100" b="1" dirty="0">
                <a:solidFill>
                  <a:srgbClr val="003087"/>
                </a:solidFill>
              </a:rPr>
              <a:t>Trained on:</a:t>
            </a:r>
            <a:endParaRPr lang="en-US" sz="1100" dirty="0"/>
          </a:p>
          <a:p>
            <a:pPr indent="0" marL="0">
              <a:lnSpc>
                <a:spcPts val="1400"/>
              </a:lnSpc>
              <a:spcAft>
                <a:spcPts val="1200"/>
              </a:spcAft>
              <a:buNone/>
            </a:pPr>
            <a:r>
              <a:rPr lang="en-US" sz="1100" dirty="0">
                <a:solidFill>
                  <a:srgbClr val="1A2332"/>
                </a:solidFill>
              </a:rPr>
              <a:t>269,412 store-week records</a:t>
            </a:r>
            <a:endParaRPr lang="en-US" sz="1100" dirty="0"/>
          </a:p>
          <a:p>
            <a:pPr indent="0" marL="0">
              <a:lnSpc>
                <a:spcPts val="1400"/>
              </a:lnSpc>
              <a:spcAft>
                <a:spcPts val="400"/>
              </a:spcAft>
              <a:buNone/>
            </a:pPr>
            <a:r>
              <a:rPr lang="en-US" sz="1100" b="1" dirty="0">
                <a:solidFill>
                  <a:srgbClr val="003087"/>
                </a:solidFill>
              </a:rPr>
              <a:t>Validation:</a:t>
            </a:r>
            <a:endParaRPr lang="en-US" sz="1100" dirty="0"/>
          </a:p>
          <a:p>
            <a:pPr indent="0" marL="0">
              <a:lnSpc>
                <a:spcPts val="1400"/>
              </a:lnSpc>
              <a:spcAft>
                <a:spcPts val="1200"/>
              </a:spcAft>
              <a:buNone/>
            </a:pPr>
            <a:r>
              <a:rPr lang="en-US" sz="1100" dirty="0">
                <a:solidFill>
                  <a:srgbClr val="1A2332"/>
                </a:solidFill>
              </a:rPr>
              <a:t>Rolling time split (train past → predict future)</a:t>
            </a:r>
            <a:endParaRPr lang="en-US" sz="1100" dirty="0"/>
          </a:p>
          <a:p>
            <a:pPr indent="0" marL="0">
              <a:lnSpc>
                <a:spcPts val="1400"/>
              </a:lnSpc>
              <a:spcAft>
                <a:spcPts val="400"/>
              </a:spcAft>
              <a:buNone/>
            </a:pPr>
            <a:r>
              <a:rPr lang="en-US" sz="1100" b="1" dirty="0">
                <a:solidFill>
                  <a:srgbClr val="003087"/>
                </a:solidFill>
              </a:rPr>
              <a:t>Leakage banned:</a:t>
            </a:r>
            <a:endParaRPr lang="en-US" sz="1100" dirty="0"/>
          </a:p>
          <a:p>
            <a:pPr indent="0" marL="0">
              <a:lnSpc>
                <a:spcPts val="1400"/>
              </a:lnSpc>
              <a:buNone/>
            </a:pPr>
            <a:r>
              <a:rPr lang="en-US" sz="1100" dirty="0">
                <a:solidFill>
                  <a:srgbClr val="1A2332"/>
                </a:solidFill>
              </a:rPr>
              <a:t>Plan Sales USD, Invoice Count, Avg Ticket</a:t>
            </a:r>
            <a:endParaRPr lang="en-US" sz="1100" dirty="0"/>
          </a:p>
        </p:txBody>
      </p:sp>
      <p:sp>
        <p:nvSpPr>
          <p:cNvPr id="24" name="Shape 22"/>
          <p:cNvSpPr/>
          <p:nvPr/>
        </p:nvSpPr>
        <p:spPr>
          <a:xfrm>
            <a:off x="7178040" y="5303520"/>
            <a:ext cx="4572000" cy="822960"/>
          </a:xfrm>
          <a:prstGeom prst="roundRect">
            <a:avLst>
              <a:gd name="adj" fmla="val 6667"/>
            </a:avLst>
          </a:prstGeom>
          <a:solidFill>
            <a:srgbClr val="F4B400"/>
          </a:solidFill>
          <a:ln/>
        </p:spPr>
      </p:sp>
      <p:sp>
        <p:nvSpPr>
          <p:cNvPr id="25" name="Text 23"/>
          <p:cNvSpPr/>
          <p:nvPr/>
        </p:nvSpPr>
        <p:spPr>
          <a:xfrm>
            <a:off x="7178040" y="5349240"/>
            <a:ext cx="4572000" cy="411480"/>
          </a:xfrm>
          <a:prstGeom prst="rect">
            <a:avLst/>
          </a:prstGeom>
          <a:noFill/>
          <a:ln/>
        </p:spPr>
        <p:txBody>
          <a:bodyPr wrap="square" lIns="0" tIns="0" rIns="0" bIns="0" rtlCol="0" anchor="ctr"/>
          <a:lstStyle/>
          <a:p>
            <a:pPr algn="ctr" indent="0" marL="0">
              <a:buNone/>
            </a:pPr>
            <a:r>
              <a:rPr lang="en-US" sz="1700" b="1" dirty="0">
                <a:solidFill>
                  <a:srgbClr val="003087"/>
                </a:solidFill>
              </a:rPr>
              <a:t>165 → 40 → 16 features</a:t>
            </a:r>
            <a:endParaRPr lang="en-US" sz="1700" dirty="0"/>
          </a:p>
        </p:txBody>
      </p:sp>
      <p:sp>
        <p:nvSpPr>
          <p:cNvPr id="26" name="Text 24"/>
          <p:cNvSpPr/>
          <p:nvPr/>
        </p:nvSpPr>
        <p:spPr>
          <a:xfrm>
            <a:off x="7178040" y="5742432"/>
            <a:ext cx="4572000" cy="365760"/>
          </a:xfrm>
          <a:prstGeom prst="rect">
            <a:avLst/>
          </a:prstGeom>
          <a:noFill/>
          <a:ln/>
        </p:spPr>
        <p:txBody>
          <a:bodyPr wrap="square" lIns="0" tIns="0" rIns="0" bIns="0" rtlCol="0" anchor="ctr"/>
          <a:lstStyle/>
          <a:p>
            <a:pPr algn="ctr" indent="0" marL="0">
              <a:buNone/>
            </a:pPr>
            <a:r>
              <a:rPr lang="en-US" sz="1000" i="1" dirty="0">
                <a:solidFill>
                  <a:srgbClr val="003087"/>
                </a:solidFill>
              </a:rPr>
              <a:t>3 iterations · multicollinearity removed · business-relevance trim</a:t>
            </a:r>
            <a:endParaRPr lang="en-US" sz="1000" dirty="0"/>
          </a:p>
        </p:txBody>
      </p:sp>
      <p:sp>
        <p:nvSpPr>
          <p:cNvPr id="27" name="Shape 25"/>
          <p:cNvSpPr/>
          <p:nvPr/>
        </p:nvSpPr>
        <p:spPr>
          <a:xfrm>
            <a:off x="0" y="6565392"/>
            <a:ext cx="12191695" cy="292608"/>
          </a:xfrm>
          <a:prstGeom prst="rect">
            <a:avLst/>
          </a:prstGeom>
          <a:solidFill>
            <a:srgbClr val="003087"/>
          </a:solidFill>
          <a:ln/>
        </p:spPr>
      </p:sp>
      <p:sp>
        <p:nvSpPr>
          <p:cNvPr id="28" name="Text 26"/>
          <p:cNvSpPr/>
          <p:nvPr/>
        </p:nvSpPr>
        <p:spPr>
          <a:xfrm>
            <a:off x="457200" y="6565392"/>
            <a:ext cx="6400800" cy="292608"/>
          </a:xfrm>
          <a:prstGeom prst="rect">
            <a:avLst/>
          </a:prstGeom>
          <a:noFill/>
          <a:ln/>
        </p:spPr>
        <p:txBody>
          <a:bodyPr wrap="square" lIns="0" tIns="0" rIns="0" bIns="0" rtlCol="0" anchor="ctr"/>
          <a:lstStyle/>
          <a:p>
            <a:pPr indent="0" marL="0">
              <a:buNone/>
            </a:pPr>
            <a:r>
              <a:rPr lang="en-US" sz="900" dirty="0">
                <a:solidFill>
                  <a:srgbClr val="CADCFC"/>
                </a:solidFill>
              </a:rPr>
              <a:t>Capstone 8 · Group 8 · IIM Calcutta APAL02</a:t>
            </a:r>
            <a:endParaRPr lang="en-US" sz="900" dirty="0"/>
          </a:p>
        </p:txBody>
      </p:sp>
      <p:sp>
        <p:nvSpPr>
          <p:cNvPr id="29" name="Text 27"/>
          <p:cNvSpPr/>
          <p:nvPr/>
        </p:nvSpPr>
        <p:spPr>
          <a:xfrm>
            <a:off x="11094415" y="6565392"/>
            <a:ext cx="822960" cy="292608"/>
          </a:xfrm>
          <a:prstGeom prst="rect">
            <a:avLst/>
          </a:prstGeom>
          <a:noFill/>
          <a:ln/>
        </p:spPr>
        <p:txBody>
          <a:bodyPr wrap="square" lIns="0" tIns="0" rIns="0" bIns="0" rtlCol="0" anchor="ctr"/>
          <a:lstStyle/>
          <a:p>
            <a:pPr algn="r" indent="0" marL="0">
              <a:buNone/>
            </a:pPr>
            <a:r>
              <a:rPr lang="en-US" sz="900" dirty="0">
                <a:solidFill>
                  <a:srgbClr val="CADCFC"/>
                </a:solidFill>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300" kern="0" dirty="0">
                <a:solidFill>
                  <a:srgbClr val="0277BD"/>
                </a:solidFill>
              </a:rPr>
              <a:t>HEADLINE RESULTS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dirty="0">
                <a:solidFill>
                  <a:srgbClr val="003087"/>
                </a:solidFill>
                <a:latin typeface="Georgia" pitchFamily="34" charset="0"/>
                <a:ea typeface="Georgia" pitchFamily="34" charset="-122"/>
                <a:cs typeface="Georgia" pitchFamily="34" charset="-120"/>
              </a:rPr>
              <a:t>Every success criterion met</a:t>
            </a:r>
            <a:endParaRPr lang="en-US" sz="3200" dirty="0"/>
          </a:p>
        </p:txBody>
      </p:sp>
      <p:sp>
        <p:nvSpPr>
          <p:cNvPr id="4" name="Shape 2"/>
          <p:cNvSpPr/>
          <p:nvPr/>
        </p:nvSpPr>
        <p:spPr>
          <a:xfrm>
            <a:off x="548640" y="1783080"/>
            <a:ext cx="2103120" cy="1828800"/>
          </a:xfrm>
          <a:prstGeom prst="roundRect">
            <a:avLst>
              <a:gd name="adj" fmla="val 4000"/>
            </a:avLst>
          </a:prstGeom>
          <a:solidFill>
            <a:srgbClr val="FFFFFF"/>
          </a:solidFill>
          <a:ln/>
          <a:effectLst>
            <a:outerShdw sx="100000" sy="100000" kx="0" ky="0" algn="bl" rotWithShape="0" blurRad="101600" dist="38100" dir="8100000">
              <a:srgbClr val="0A1F44">
                <a:alpha val="16000"/>
              </a:srgbClr>
            </a:outerShdw>
          </a:effectLst>
        </p:spPr>
      </p:sp>
      <p:sp>
        <p:nvSpPr>
          <p:cNvPr id="5" name="Shape 3"/>
          <p:cNvSpPr/>
          <p:nvPr/>
        </p:nvSpPr>
        <p:spPr>
          <a:xfrm>
            <a:off x="548640" y="1783080"/>
            <a:ext cx="2103120" cy="91440"/>
          </a:xfrm>
          <a:prstGeom prst="rect">
            <a:avLst/>
          </a:prstGeom>
          <a:solidFill>
            <a:srgbClr val="2E7D32"/>
          </a:solidFill>
          <a:ln/>
        </p:spPr>
      </p:sp>
      <p:sp>
        <p:nvSpPr>
          <p:cNvPr id="6" name="Text 4"/>
          <p:cNvSpPr/>
          <p:nvPr/>
        </p:nvSpPr>
        <p:spPr>
          <a:xfrm>
            <a:off x="548640" y="1965960"/>
            <a:ext cx="2103120" cy="777240"/>
          </a:xfrm>
          <a:prstGeom prst="rect">
            <a:avLst/>
          </a:prstGeom>
          <a:noFill/>
          <a:ln/>
        </p:spPr>
        <p:txBody>
          <a:bodyPr wrap="square" lIns="0" tIns="0" rIns="0" bIns="0" rtlCol="0" anchor="ctr"/>
          <a:lstStyle/>
          <a:p>
            <a:pPr algn="ctr" indent="0" marL="0">
              <a:buNone/>
            </a:pPr>
            <a:r>
              <a:rPr lang="en-US" sz="2800" b="1" dirty="0">
                <a:solidFill>
                  <a:srgbClr val="003087"/>
                </a:solidFill>
              </a:rPr>
              <a:t>7.05%</a:t>
            </a:r>
            <a:endParaRPr lang="en-US" sz="2800" dirty="0"/>
          </a:p>
        </p:txBody>
      </p:sp>
      <p:sp>
        <p:nvSpPr>
          <p:cNvPr id="7" name="Text 5"/>
          <p:cNvSpPr/>
          <p:nvPr/>
        </p:nvSpPr>
        <p:spPr>
          <a:xfrm>
            <a:off x="548640" y="2743200"/>
            <a:ext cx="2103120" cy="365760"/>
          </a:xfrm>
          <a:prstGeom prst="rect">
            <a:avLst/>
          </a:prstGeom>
          <a:noFill/>
          <a:ln/>
        </p:spPr>
        <p:txBody>
          <a:bodyPr wrap="square" lIns="0" tIns="0" rIns="0" bIns="0" rtlCol="0" anchor="ctr"/>
          <a:lstStyle/>
          <a:p>
            <a:pPr algn="ctr" indent="0" marL="0">
              <a:buNone/>
            </a:pPr>
            <a:r>
              <a:rPr lang="en-US" sz="1200" b="1" dirty="0">
                <a:solidFill>
                  <a:srgbClr val="1A2332"/>
                </a:solidFill>
              </a:rPr>
              <a:t>WAPE</a:t>
            </a:r>
            <a:endParaRPr lang="en-US" sz="1200" dirty="0"/>
          </a:p>
        </p:txBody>
      </p:sp>
      <p:sp>
        <p:nvSpPr>
          <p:cNvPr id="8" name="Text 6"/>
          <p:cNvSpPr/>
          <p:nvPr/>
        </p:nvSpPr>
        <p:spPr>
          <a:xfrm>
            <a:off x="548640" y="3108960"/>
            <a:ext cx="2103120" cy="365760"/>
          </a:xfrm>
          <a:prstGeom prst="rect">
            <a:avLst/>
          </a:prstGeom>
          <a:noFill/>
          <a:ln/>
        </p:spPr>
        <p:txBody>
          <a:bodyPr wrap="square" lIns="0" tIns="0" rIns="0" bIns="0" rtlCol="0" anchor="ctr"/>
          <a:lstStyle/>
          <a:p>
            <a:pPr algn="ctr" indent="0" marL="0">
              <a:buNone/>
            </a:pPr>
            <a:r>
              <a:rPr lang="en-US" sz="1050" dirty="0">
                <a:solidFill>
                  <a:srgbClr val="2E7D32"/>
                </a:solidFill>
              </a:rPr>
              <a:t>Target &lt; 8%</a:t>
            </a:r>
            <a:endParaRPr lang="en-US" sz="1050" dirty="0"/>
          </a:p>
        </p:txBody>
      </p:sp>
      <p:sp>
        <p:nvSpPr>
          <p:cNvPr id="9" name="Shape 7"/>
          <p:cNvSpPr/>
          <p:nvPr/>
        </p:nvSpPr>
        <p:spPr>
          <a:xfrm>
            <a:off x="2798064" y="1783080"/>
            <a:ext cx="2103120" cy="1828800"/>
          </a:xfrm>
          <a:prstGeom prst="roundRect">
            <a:avLst>
              <a:gd name="adj" fmla="val 4000"/>
            </a:avLst>
          </a:prstGeom>
          <a:solidFill>
            <a:srgbClr val="FFFFFF"/>
          </a:solidFill>
          <a:ln/>
          <a:effectLst>
            <a:outerShdw sx="100000" sy="100000" kx="0" ky="0" algn="bl" rotWithShape="0" blurRad="101600" dist="38100" dir="8100000">
              <a:srgbClr val="0A1F44">
                <a:alpha val="16000"/>
              </a:srgbClr>
            </a:outerShdw>
          </a:effectLst>
        </p:spPr>
      </p:sp>
      <p:sp>
        <p:nvSpPr>
          <p:cNvPr id="10" name="Shape 8"/>
          <p:cNvSpPr/>
          <p:nvPr/>
        </p:nvSpPr>
        <p:spPr>
          <a:xfrm>
            <a:off x="2798064" y="1783080"/>
            <a:ext cx="2103120" cy="91440"/>
          </a:xfrm>
          <a:prstGeom prst="rect">
            <a:avLst/>
          </a:prstGeom>
          <a:solidFill>
            <a:srgbClr val="2E7D32"/>
          </a:solidFill>
          <a:ln/>
        </p:spPr>
      </p:sp>
      <p:sp>
        <p:nvSpPr>
          <p:cNvPr id="11" name="Text 9"/>
          <p:cNvSpPr/>
          <p:nvPr/>
        </p:nvSpPr>
        <p:spPr>
          <a:xfrm>
            <a:off x="2798064" y="1965960"/>
            <a:ext cx="2103120" cy="777240"/>
          </a:xfrm>
          <a:prstGeom prst="rect">
            <a:avLst/>
          </a:prstGeom>
          <a:noFill/>
          <a:ln/>
        </p:spPr>
        <p:txBody>
          <a:bodyPr wrap="square" lIns="0" tIns="0" rIns="0" bIns="0" rtlCol="0" anchor="ctr"/>
          <a:lstStyle/>
          <a:p>
            <a:pPr algn="ctr" indent="0" marL="0">
              <a:buNone/>
            </a:pPr>
            <a:r>
              <a:rPr lang="en-US" sz="2800" b="1" dirty="0">
                <a:solidFill>
                  <a:srgbClr val="003087"/>
                </a:solidFill>
              </a:rPr>
              <a:t>−0.97%</a:t>
            </a:r>
            <a:endParaRPr lang="en-US" sz="2800" dirty="0"/>
          </a:p>
        </p:txBody>
      </p:sp>
      <p:sp>
        <p:nvSpPr>
          <p:cNvPr id="12" name="Text 10"/>
          <p:cNvSpPr/>
          <p:nvPr/>
        </p:nvSpPr>
        <p:spPr>
          <a:xfrm>
            <a:off x="2798064" y="2743200"/>
            <a:ext cx="2103120" cy="365760"/>
          </a:xfrm>
          <a:prstGeom prst="rect">
            <a:avLst/>
          </a:prstGeom>
          <a:noFill/>
          <a:ln/>
        </p:spPr>
        <p:txBody>
          <a:bodyPr wrap="square" lIns="0" tIns="0" rIns="0" bIns="0" rtlCol="0" anchor="ctr"/>
          <a:lstStyle/>
          <a:p>
            <a:pPr algn="ctr" indent="0" marL="0">
              <a:buNone/>
            </a:pPr>
            <a:r>
              <a:rPr lang="en-US" sz="1200" b="1" dirty="0">
                <a:solidFill>
                  <a:srgbClr val="1A2332"/>
                </a:solidFill>
              </a:rPr>
              <a:t>Bias</a:t>
            </a:r>
            <a:endParaRPr lang="en-US" sz="1200" dirty="0"/>
          </a:p>
        </p:txBody>
      </p:sp>
      <p:sp>
        <p:nvSpPr>
          <p:cNvPr id="13" name="Text 11"/>
          <p:cNvSpPr/>
          <p:nvPr/>
        </p:nvSpPr>
        <p:spPr>
          <a:xfrm>
            <a:off x="2798064" y="3108960"/>
            <a:ext cx="2103120" cy="365760"/>
          </a:xfrm>
          <a:prstGeom prst="rect">
            <a:avLst/>
          </a:prstGeom>
          <a:noFill/>
          <a:ln/>
        </p:spPr>
        <p:txBody>
          <a:bodyPr wrap="square" lIns="0" tIns="0" rIns="0" bIns="0" rtlCol="0" anchor="ctr"/>
          <a:lstStyle/>
          <a:p>
            <a:pPr algn="ctr" indent="0" marL="0">
              <a:buNone/>
            </a:pPr>
            <a:r>
              <a:rPr lang="en-US" sz="1050" dirty="0">
                <a:solidFill>
                  <a:srgbClr val="2E7D32"/>
                </a:solidFill>
              </a:rPr>
              <a:t>Within ±2%</a:t>
            </a:r>
            <a:endParaRPr lang="en-US" sz="1050" dirty="0"/>
          </a:p>
        </p:txBody>
      </p:sp>
      <p:sp>
        <p:nvSpPr>
          <p:cNvPr id="14" name="Shape 12"/>
          <p:cNvSpPr/>
          <p:nvPr/>
        </p:nvSpPr>
        <p:spPr>
          <a:xfrm>
            <a:off x="5047488" y="1783080"/>
            <a:ext cx="2103120" cy="1828800"/>
          </a:xfrm>
          <a:prstGeom prst="roundRect">
            <a:avLst>
              <a:gd name="adj" fmla="val 4000"/>
            </a:avLst>
          </a:prstGeom>
          <a:solidFill>
            <a:srgbClr val="FFFFFF"/>
          </a:solidFill>
          <a:ln/>
          <a:effectLst>
            <a:outerShdw sx="100000" sy="100000" kx="0" ky="0" algn="bl" rotWithShape="0" blurRad="101600" dist="38100" dir="8100000">
              <a:srgbClr val="0A1F44">
                <a:alpha val="16000"/>
              </a:srgbClr>
            </a:outerShdw>
          </a:effectLst>
        </p:spPr>
      </p:sp>
      <p:sp>
        <p:nvSpPr>
          <p:cNvPr id="15" name="Shape 13"/>
          <p:cNvSpPr/>
          <p:nvPr/>
        </p:nvSpPr>
        <p:spPr>
          <a:xfrm>
            <a:off x="5047488" y="1783080"/>
            <a:ext cx="2103120" cy="91440"/>
          </a:xfrm>
          <a:prstGeom prst="rect">
            <a:avLst/>
          </a:prstGeom>
          <a:solidFill>
            <a:srgbClr val="2E7D32"/>
          </a:solidFill>
          <a:ln/>
        </p:spPr>
      </p:sp>
      <p:sp>
        <p:nvSpPr>
          <p:cNvPr id="16" name="Text 14"/>
          <p:cNvSpPr/>
          <p:nvPr/>
        </p:nvSpPr>
        <p:spPr>
          <a:xfrm>
            <a:off x="5047488" y="1965960"/>
            <a:ext cx="2103120" cy="777240"/>
          </a:xfrm>
          <a:prstGeom prst="rect">
            <a:avLst/>
          </a:prstGeom>
          <a:noFill/>
          <a:ln/>
        </p:spPr>
        <p:txBody>
          <a:bodyPr wrap="square" lIns="0" tIns="0" rIns="0" bIns="0" rtlCol="0" anchor="ctr"/>
          <a:lstStyle/>
          <a:p>
            <a:pPr algn="ctr" indent="0" marL="0">
              <a:buNone/>
            </a:pPr>
            <a:r>
              <a:rPr lang="en-US" sz="2800" b="1" dirty="0">
                <a:solidFill>
                  <a:srgbClr val="003087"/>
                </a:solidFill>
              </a:rPr>
              <a:t>0.977</a:t>
            </a:r>
            <a:endParaRPr lang="en-US" sz="2800" dirty="0"/>
          </a:p>
        </p:txBody>
      </p:sp>
      <p:sp>
        <p:nvSpPr>
          <p:cNvPr id="17" name="Text 15"/>
          <p:cNvSpPr/>
          <p:nvPr/>
        </p:nvSpPr>
        <p:spPr>
          <a:xfrm>
            <a:off x="5047488" y="2743200"/>
            <a:ext cx="2103120" cy="365760"/>
          </a:xfrm>
          <a:prstGeom prst="rect">
            <a:avLst/>
          </a:prstGeom>
          <a:noFill/>
          <a:ln/>
        </p:spPr>
        <p:txBody>
          <a:bodyPr wrap="square" lIns="0" tIns="0" rIns="0" bIns="0" rtlCol="0" anchor="ctr"/>
          <a:lstStyle/>
          <a:p>
            <a:pPr algn="ctr" indent="0" marL="0">
              <a:buNone/>
            </a:pPr>
            <a:r>
              <a:rPr lang="en-US" sz="1200" b="1" dirty="0">
                <a:solidFill>
                  <a:srgbClr val="1A2332"/>
                </a:solidFill>
              </a:rPr>
              <a:t>R²</a:t>
            </a:r>
            <a:endParaRPr lang="en-US" sz="1200" dirty="0"/>
          </a:p>
        </p:txBody>
      </p:sp>
      <p:sp>
        <p:nvSpPr>
          <p:cNvPr id="18" name="Text 16"/>
          <p:cNvSpPr/>
          <p:nvPr/>
        </p:nvSpPr>
        <p:spPr>
          <a:xfrm>
            <a:off x="5047488" y="3108960"/>
            <a:ext cx="2103120" cy="365760"/>
          </a:xfrm>
          <a:prstGeom prst="rect">
            <a:avLst/>
          </a:prstGeom>
          <a:noFill/>
          <a:ln/>
        </p:spPr>
        <p:txBody>
          <a:bodyPr wrap="square" lIns="0" tIns="0" rIns="0" bIns="0" rtlCol="0" anchor="ctr"/>
          <a:lstStyle/>
          <a:p>
            <a:pPr algn="ctr" indent="0" marL="0">
              <a:buNone/>
            </a:pPr>
            <a:r>
              <a:rPr lang="en-US" sz="1050" dirty="0">
                <a:solidFill>
                  <a:srgbClr val="2E7D32"/>
                </a:solidFill>
              </a:rPr>
              <a:t>Target &gt; 0.88</a:t>
            </a:r>
            <a:endParaRPr lang="en-US" sz="1050" dirty="0"/>
          </a:p>
        </p:txBody>
      </p:sp>
      <p:sp>
        <p:nvSpPr>
          <p:cNvPr id="19" name="Shape 17"/>
          <p:cNvSpPr/>
          <p:nvPr/>
        </p:nvSpPr>
        <p:spPr>
          <a:xfrm>
            <a:off x="7296912" y="1783080"/>
            <a:ext cx="2103120" cy="1828800"/>
          </a:xfrm>
          <a:prstGeom prst="roundRect">
            <a:avLst>
              <a:gd name="adj" fmla="val 4000"/>
            </a:avLst>
          </a:prstGeom>
          <a:solidFill>
            <a:srgbClr val="FFFFFF"/>
          </a:solidFill>
          <a:ln/>
          <a:effectLst>
            <a:outerShdw sx="100000" sy="100000" kx="0" ky="0" algn="bl" rotWithShape="0" blurRad="101600" dist="38100" dir="8100000">
              <a:srgbClr val="0A1F44">
                <a:alpha val="16000"/>
              </a:srgbClr>
            </a:outerShdw>
          </a:effectLst>
        </p:spPr>
      </p:sp>
      <p:sp>
        <p:nvSpPr>
          <p:cNvPr id="20" name="Shape 18"/>
          <p:cNvSpPr/>
          <p:nvPr/>
        </p:nvSpPr>
        <p:spPr>
          <a:xfrm>
            <a:off x="7296912" y="1783080"/>
            <a:ext cx="2103120" cy="91440"/>
          </a:xfrm>
          <a:prstGeom prst="rect">
            <a:avLst/>
          </a:prstGeom>
          <a:solidFill>
            <a:srgbClr val="0277BD"/>
          </a:solidFill>
          <a:ln/>
        </p:spPr>
      </p:sp>
      <p:sp>
        <p:nvSpPr>
          <p:cNvPr id="21" name="Text 19"/>
          <p:cNvSpPr/>
          <p:nvPr/>
        </p:nvSpPr>
        <p:spPr>
          <a:xfrm>
            <a:off x="7296912" y="1965960"/>
            <a:ext cx="2103120" cy="777240"/>
          </a:xfrm>
          <a:prstGeom prst="rect">
            <a:avLst/>
          </a:prstGeom>
          <a:noFill/>
          <a:ln/>
        </p:spPr>
        <p:txBody>
          <a:bodyPr wrap="square" lIns="0" tIns="0" rIns="0" bIns="0" rtlCol="0" anchor="ctr"/>
          <a:lstStyle/>
          <a:p>
            <a:pPr algn="ctr" indent="0" marL="0">
              <a:buNone/>
            </a:pPr>
            <a:r>
              <a:rPr lang="en-US" sz="2800" b="1" dirty="0">
                <a:solidFill>
                  <a:srgbClr val="003087"/>
                </a:solidFill>
              </a:rPr>
              <a:t>15%</a:t>
            </a:r>
            <a:endParaRPr lang="en-US" sz="2800" dirty="0"/>
          </a:p>
        </p:txBody>
      </p:sp>
      <p:sp>
        <p:nvSpPr>
          <p:cNvPr id="22" name="Text 20"/>
          <p:cNvSpPr/>
          <p:nvPr/>
        </p:nvSpPr>
        <p:spPr>
          <a:xfrm>
            <a:off x="7296912" y="2743200"/>
            <a:ext cx="2103120" cy="365760"/>
          </a:xfrm>
          <a:prstGeom prst="rect">
            <a:avLst/>
          </a:prstGeom>
          <a:noFill/>
          <a:ln/>
        </p:spPr>
        <p:txBody>
          <a:bodyPr wrap="square" lIns="0" tIns="0" rIns="0" bIns="0" rtlCol="0" anchor="ctr"/>
          <a:lstStyle/>
          <a:p>
            <a:pPr algn="ctr" indent="0" marL="0">
              <a:buNone/>
            </a:pPr>
            <a:r>
              <a:rPr lang="en-US" sz="1200" b="1" dirty="0">
                <a:solidFill>
                  <a:srgbClr val="1A2332"/>
                </a:solidFill>
              </a:rPr>
              <a:t>vs Naive</a:t>
            </a:r>
            <a:endParaRPr lang="en-US" sz="1200" dirty="0"/>
          </a:p>
        </p:txBody>
      </p:sp>
      <p:sp>
        <p:nvSpPr>
          <p:cNvPr id="23" name="Text 21"/>
          <p:cNvSpPr/>
          <p:nvPr/>
        </p:nvSpPr>
        <p:spPr>
          <a:xfrm>
            <a:off x="7296912" y="3108960"/>
            <a:ext cx="2103120" cy="365760"/>
          </a:xfrm>
          <a:prstGeom prst="rect">
            <a:avLst/>
          </a:prstGeom>
          <a:noFill/>
          <a:ln/>
        </p:spPr>
        <p:txBody>
          <a:bodyPr wrap="square" lIns="0" tIns="0" rIns="0" bIns="0" rtlCol="0" anchor="ctr"/>
          <a:lstStyle/>
          <a:p>
            <a:pPr algn="ctr" indent="0" marL="0">
              <a:buNone/>
            </a:pPr>
            <a:r>
              <a:rPr lang="en-US" sz="1050" dirty="0">
                <a:solidFill>
                  <a:srgbClr val="2E7D32"/>
                </a:solidFill>
              </a:rPr>
              <a:t>Beats lag-52</a:t>
            </a:r>
            <a:endParaRPr lang="en-US" sz="1050" dirty="0"/>
          </a:p>
        </p:txBody>
      </p:sp>
      <p:sp>
        <p:nvSpPr>
          <p:cNvPr id="24" name="Shape 22"/>
          <p:cNvSpPr/>
          <p:nvPr/>
        </p:nvSpPr>
        <p:spPr>
          <a:xfrm>
            <a:off x="9546336" y="1783080"/>
            <a:ext cx="2103120" cy="1828800"/>
          </a:xfrm>
          <a:prstGeom prst="roundRect">
            <a:avLst>
              <a:gd name="adj" fmla="val 4000"/>
            </a:avLst>
          </a:prstGeom>
          <a:solidFill>
            <a:srgbClr val="FFFFFF"/>
          </a:solidFill>
          <a:ln/>
          <a:effectLst>
            <a:outerShdw sx="100000" sy="100000" kx="0" ky="0" algn="bl" rotWithShape="0" blurRad="101600" dist="38100" dir="8100000">
              <a:srgbClr val="0A1F44">
                <a:alpha val="16000"/>
              </a:srgbClr>
            </a:outerShdw>
          </a:effectLst>
        </p:spPr>
      </p:sp>
      <p:sp>
        <p:nvSpPr>
          <p:cNvPr id="25" name="Shape 23"/>
          <p:cNvSpPr/>
          <p:nvPr/>
        </p:nvSpPr>
        <p:spPr>
          <a:xfrm>
            <a:off x="9546336" y="1783080"/>
            <a:ext cx="2103120" cy="91440"/>
          </a:xfrm>
          <a:prstGeom prst="rect">
            <a:avLst/>
          </a:prstGeom>
          <a:solidFill>
            <a:srgbClr val="F4B400"/>
          </a:solidFill>
          <a:ln/>
        </p:spPr>
      </p:sp>
      <p:sp>
        <p:nvSpPr>
          <p:cNvPr id="26" name="Text 24"/>
          <p:cNvSpPr/>
          <p:nvPr/>
        </p:nvSpPr>
        <p:spPr>
          <a:xfrm>
            <a:off x="9546336" y="1965960"/>
            <a:ext cx="2103120" cy="777240"/>
          </a:xfrm>
          <a:prstGeom prst="rect">
            <a:avLst/>
          </a:prstGeom>
          <a:noFill/>
          <a:ln/>
        </p:spPr>
        <p:txBody>
          <a:bodyPr wrap="square" lIns="0" tIns="0" rIns="0" bIns="0" rtlCol="0" anchor="ctr"/>
          <a:lstStyle/>
          <a:p>
            <a:pPr algn="ctr" indent="0" marL="0">
              <a:buNone/>
            </a:pPr>
            <a:r>
              <a:rPr lang="en-US" sz="2800" b="1" dirty="0">
                <a:solidFill>
                  <a:srgbClr val="003087"/>
                </a:solidFill>
              </a:rPr>
              <a:t>94.7%</a:t>
            </a:r>
            <a:endParaRPr lang="en-US" sz="2800" dirty="0"/>
          </a:p>
        </p:txBody>
      </p:sp>
      <p:sp>
        <p:nvSpPr>
          <p:cNvPr id="27" name="Text 25"/>
          <p:cNvSpPr/>
          <p:nvPr/>
        </p:nvSpPr>
        <p:spPr>
          <a:xfrm>
            <a:off x="9546336" y="2743200"/>
            <a:ext cx="2103120" cy="365760"/>
          </a:xfrm>
          <a:prstGeom prst="rect">
            <a:avLst/>
          </a:prstGeom>
          <a:noFill/>
          <a:ln/>
        </p:spPr>
        <p:txBody>
          <a:bodyPr wrap="square" lIns="0" tIns="0" rIns="0" bIns="0" rtlCol="0" anchor="ctr"/>
          <a:lstStyle/>
          <a:p>
            <a:pPr algn="ctr" indent="0" marL="0">
              <a:buNone/>
            </a:pPr>
            <a:r>
              <a:rPr lang="en-US" sz="1200" b="1" dirty="0">
                <a:solidFill>
                  <a:srgbClr val="1A2332"/>
                </a:solidFill>
              </a:rPr>
              <a:t>Calibrated</a:t>
            </a:r>
            <a:endParaRPr lang="en-US" sz="1200" dirty="0"/>
          </a:p>
        </p:txBody>
      </p:sp>
      <p:sp>
        <p:nvSpPr>
          <p:cNvPr id="28" name="Text 26"/>
          <p:cNvSpPr/>
          <p:nvPr/>
        </p:nvSpPr>
        <p:spPr>
          <a:xfrm>
            <a:off x="9546336" y="3108960"/>
            <a:ext cx="2103120" cy="365760"/>
          </a:xfrm>
          <a:prstGeom prst="rect">
            <a:avLst/>
          </a:prstGeom>
          <a:noFill/>
          <a:ln/>
        </p:spPr>
        <p:txBody>
          <a:bodyPr wrap="square" lIns="0" tIns="0" rIns="0" bIns="0" rtlCol="0" anchor="ctr"/>
          <a:lstStyle/>
          <a:p>
            <a:pPr algn="ctr" indent="0" marL="0">
              <a:buNone/>
            </a:pPr>
            <a:r>
              <a:rPr lang="en-US" sz="1050" dirty="0">
                <a:solidFill>
                  <a:srgbClr val="2E7D32"/>
                </a:solidFill>
              </a:rPr>
              <a:t>1,636 / 1,727</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64240" cy="2286000"/>
        </p:xfrm>
        <a:graphic>
          <a:graphicData uri="http://schemas.openxmlformats.org/drawingml/2006/table">
            <a:tbl>
              <a:tblPr/>
              <a:tblGrid>
                <a:gridCol w="2766060"/>
                <a:gridCol w="2766060"/>
                <a:gridCol w="2766060"/>
                <a:gridCol w="2766060"/>
              </a:tblGrid>
              <a:tr h="457200">
                <a:tc>
                  <a:txBody>
                    <a:bodyPr/>
                    <a:lstStyle/>
                    <a:p>
                      <a:pPr algn="ctr" indent="0" marL="0">
                        <a:buNone/>
                      </a:pPr>
                      <a:r>
                        <a:rPr lang="en-US" sz="1300" b="1" dirty="0">
                          <a:solidFill>
                            <a:srgbClr val="FFFFFF"/>
                          </a:solidFill>
                        </a:rPr>
                        <a:t>Model</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03087"/>
                    </a:solidFill>
                  </a:tcPr>
                </a:tc>
                <a:tc>
                  <a:txBody>
                    <a:bodyPr/>
                    <a:lstStyle/>
                    <a:p>
                      <a:pPr algn="ctr" indent="0" marL="0">
                        <a:buNone/>
                      </a:pPr>
                      <a:r>
                        <a:rPr lang="en-US" sz="1300" b="1" dirty="0">
                          <a:solidFill>
                            <a:srgbClr val="FFFFFF"/>
                          </a:solidFill>
                        </a:rPr>
                        <a:t>WAPE</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03087"/>
                    </a:solidFill>
                  </a:tcPr>
                </a:tc>
                <a:tc>
                  <a:txBody>
                    <a:bodyPr/>
                    <a:lstStyle/>
                    <a:p>
                      <a:pPr algn="ctr" indent="0" marL="0">
                        <a:buNone/>
                      </a:pPr>
                      <a:r>
                        <a:rPr lang="en-US" sz="1300" b="1" dirty="0">
                          <a:solidFill>
                            <a:srgbClr val="FFFFFF"/>
                          </a:solidFill>
                        </a:rPr>
                        <a:t>Bias</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03087"/>
                    </a:solidFill>
                  </a:tcPr>
                </a:tc>
                <a:tc>
                  <a:txBody>
                    <a:bodyPr/>
                    <a:lstStyle/>
                    <a:p>
                      <a:pPr algn="ctr" indent="0" marL="0">
                        <a:buNone/>
                      </a:pPr>
                      <a:r>
                        <a:rPr lang="en-US" sz="1300" b="1" dirty="0">
                          <a:solidFill>
                            <a:srgbClr val="FFFFFF"/>
                          </a:solidFill>
                        </a:rPr>
                        <a:t>R²</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03087"/>
                    </a:solidFill>
                  </a:tcPr>
                </a:tc>
              </a:tr>
              <a:tr h="438912">
                <a:tc>
                  <a:txBody>
                    <a:bodyPr/>
                    <a:lstStyle/>
                    <a:p>
                      <a:pPr algn="ctr" indent="0" marL="0">
                        <a:buNone/>
                      </a:pPr>
                      <a:r>
                        <a:rPr lang="en-US" sz="1300" b="1" dirty="0">
                          <a:solidFill>
                            <a:srgbClr val="1A2332"/>
                          </a:solidFill>
                        </a:rPr>
                        <a:t>XGBoost (selected)</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7.05%</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−0.97%</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0.977</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438912">
                <a:tc>
                  <a:txBody>
                    <a:bodyPr/>
                    <a:lstStyle/>
                    <a:p>
                      <a:pPr algn="ctr" indent="0" marL="0">
                        <a:buNone/>
                      </a:pPr>
                      <a:r>
                        <a:rPr lang="en-US" sz="1300" dirty="0">
                          <a:solidFill>
                            <a:srgbClr val="1A2332"/>
                          </a:solidFill>
                        </a:rPr>
                        <a:t>LightGBM</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7.07%</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−1.11%</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0.977</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438912">
                <a:tc>
                  <a:txBody>
                    <a:bodyPr/>
                    <a:lstStyle/>
                    <a:p>
                      <a:pPr algn="ctr" indent="0" marL="0">
                        <a:buNone/>
                      </a:pPr>
                      <a:r>
                        <a:rPr lang="en-US" sz="1300" dirty="0">
                          <a:solidFill>
                            <a:srgbClr val="1A2332"/>
                          </a:solidFill>
                        </a:rPr>
                        <a:t>Ridge Regression</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7.11%</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+0.39%</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0.978</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438912">
                <a:tc>
                  <a:txBody>
                    <a:bodyPr/>
                    <a:lstStyle/>
                    <a:p>
                      <a:pPr algn="ctr" indent="0" marL="0">
                        <a:buNone/>
                      </a:pPr>
                      <a:r>
                        <a:rPr lang="en-US" sz="1300" dirty="0">
                          <a:solidFill>
                            <a:srgbClr val="1A2332"/>
                          </a:solidFill>
                        </a:rPr>
                        <a:t>Naive (lag-52)</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8.27%</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+0.33%</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332"/>
                          </a:solidFill>
                        </a:rPr>
                        <a:t>0.965</a:t>
                      </a:r>
                      <a:endParaRPr lang="en-US" sz="1300" dirty="0"/>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bl>
          </a:graphicData>
        </a:graphic>
      </p:graphicFrame>
      <p:sp>
        <p:nvSpPr>
          <p:cNvPr id="30" name="Shape 27"/>
          <p:cNvSpPr/>
          <p:nvPr/>
        </p:nvSpPr>
        <p:spPr>
          <a:xfrm>
            <a:off x="0" y="6565392"/>
            <a:ext cx="12191695" cy="292608"/>
          </a:xfrm>
          <a:prstGeom prst="rect">
            <a:avLst/>
          </a:prstGeom>
          <a:solidFill>
            <a:srgbClr val="003087"/>
          </a:solidFill>
          <a:ln/>
        </p:spPr>
      </p:sp>
      <p:sp>
        <p:nvSpPr>
          <p:cNvPr id="31" name="Text 28"/>
          <p:cNvSpPr/>
          <p:nvPr/>
        </p:nvSpPr>
        <p:spPr>
          <a:xfrm>
            <a:off x="457200" y="6565392"/>
            <a:ext cx="6400800" cy="292608"/>
          </a:xfrm>
          <a:prstGeom prst="rect">
            <a:avLst/>
          </a:prstGeom>
          <a:noFill/>
          <a:ln/>
        </p:spPr>
        <p:txBody>
          <a:bodyPr wrap="square" lIns="0" tIns="0" rIns="0" bIns="0" rtlCol="0" anchor="ctr"/>
          <a:lstStyle/>
          <a:p>
            <a:pPr indent="0" marL="0">
              <a:buNone/>
            </a:pPr>
            <a:r>
              <a:rPr lang="en-US" sz="900" dirty="0">
                <a:solidFill>
                  <a:srgbClr val="CADCFC"/>
                </a:solidFill>
              </a:rPr>
              <a:t>Capstone 8 · Group 8 · IIM Calcutta APAL02</a:t>
            </a:r>
            <a:endParaRPr lang="en-US" sz="900" dirty="0"/>
          </a:p>
        </p:txBody>
      </p:sp>
      <p:sp>
        <p:nvSpPr>
          <p:cNvPr id="32" name="Text 29"/>
          <p:cNvSpPr/>
          <p:nvPr/>
        </p:nvSpPr>
        <p:spPr>
          <a:xfrm>
            <a:off x="11094415" y="6565392"/>
            <a:ext cx="822960" cy="292608"/>
          </a:xfrm>
          <a:prstGeom prst="rect">
            <a:avLst/>
          </a:prstGeom>
          <a:noFill/>
          <a:ln/>
        </p:spPr>
        <p:txBody>
          <a:bodyPr wrap="square" lIns="0" tIns="0" rIns="0" bIns="0" rtlCol="0" anchor="ctr"/>
          <a:lstStyle/>
          <a:p>
            <a:pPr algn="r" indent="0" marL="0">
              <a:buNone/>
            </a:pPr>
            <a:r>
              <a:rPr lang="en-US" sz="900" dirty="0">
                <a:solidFill>
                  <a:srgbClr val="CADCFC"/>
                </a:solidFill>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300" kern="0" dirty="0">
                <a:solidFill>
                  <a:srgbClr val="0277BD"/>
                </a:solidFill>
              </a:rPr>
              <a:t>THE DIFFERENTIATOR</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dirty="0">
                <a:solidFill>
                  <a:srgbClr val="003087"/>
                </a:solidFill>
                <a:latin typeface="Georgia" pitchFamily="34" charset="0"/>
                <a:ea typeface="Georgia" pitchFamily="34" charset="-122"/>
                <a:cs typeface="Georgia" pitchFamily="34" charset="-120"/>
              </a:rPr>
              <a:t>Store-Level Accuracy Loop</a:t>
            </a:r>
            <a:endParaRPr lang="en-US" sz="3200" dirty="0"/>
          </a:p>
        </p:txBody>
      </p:sp>
      <p:sp>
        <p:nvSpPr>
          <p:cNvPr id="4" name="Text 2"/>
          <p:cNvSpPr/>
          <p:nvPr/>
        </p:nvSpPr>
        <p:spPr>
          <a:xfrm>
            <a:off x="548640" y="1691640"/>
            <a:ext cx="11064240" cy="457200"/>
          </a:xfrm>
          <a:prstGeom prst="rect">
            <a:avLst/>
          </a:prstGeom>
          <a:noFill/>
          <a:ln/>
        </p:spPr>
        <p:txBody>
          <a:bodyPr wrap="square" lIns="0" tIns="0" rIns="0" bIns="0" rtlCol="0" anchor="ctr"/>
          <a:lstStyle/>
          <a:p>
            <a:pPr indent="0" marL="0">
              <a:buNone/>
            </a:pPr>
            <a:r>
              <a:rPr lang="en-US" sz="1400" dirty="0">
                <a:solidFill>
                  <a:srgbClr val="1A2332"/>
                </a:solidFill>
              </a:rPr>
              <a:t>Per-store WAPE, Bias &amp; quarterly bias — then classify every store for targeted planner action.</a:t>
            </a:r>
            <a:endParaRPr lang="en-US" sz="1400" dirty="0"/>
          </a:p>
        </p:txBody>
      </p:sp>
      <p:sp>
        <p:nvSpPr>
          <p:cNvPr id="5" name="Shape 3"/>
          <p:cNvSpPr/>
          <p:nvPr/>
        </p:nvSpPr>
        <p:spPr>
          <a:xfrm>
            <a:off x="548640" y="2514600"/>
            <a:ext cx="3566160" cy="2468880"/>
          </a:xfrm>
          <a:prstGeom prst="roundRect">
            <a:avLst>
              <a:gd name="adj" fmla="val 2963"/>
            </a:avLst>
          </a:prstGeom>
          <a:solidFill>
            <a:srgbClr val="FFFFFF"/>
          </a:solidFill>
          <a:ln/>
          <a:effectLst>
            <a:outerShdw sx="100000" sy="100000" kx="0" ky="0" algn="bl" rotWithShape="0" blurRad="101600" dist="38100" dir="8100000">
              <a:srgbClr val="0A1F44">
                <a:alpha val="16000"/>
              </a:srgbClr>
            </a:outerShdw>
          </a:effectLst>
        </p:spPr>
      </p:sp>
      <p:sp>
        <p:nvSpPr>
          <p:cNvPr id="6" name="Shape 4"/>
          <p:cNvSpPr/>
          <p:nvPr/>
        </p:nvSpPr>
        <p:spPr>
          <a:xfrm>
            <a:off x="548640" y="2514600"/>
            <a:ext cx="3566160" cy="91440"/>
          </a:xfrm>
          <a:prstGeom prst="rect">
            <a:avLst/>
          </a:prstGeom>
          <a:solidFill>
            <a:srgbClr val="2E7D32"/>
          </a:solidFill>
          <a:ln/>
        </p:spPr>
      </p:sp>
      <p:sp>
        <p:nvSpPr>
          <p:cNvPr id="7" name="Text 5"/>
          <p:cNvSpPr/>
          <p:nvPr/>
        </p:nvSpPr>
        <p:spPr>
          <a:xfrm>
            <a:off x="548640" y="2697480"/>
            <a:ext cx="3566160" cy="868680"/>
          </a:xfrm>
          <a:prstGeom prst="rect">
            <a:avLst/>
          </a:prstGeom>
          <a:noFill/>
          <a:ln/>
        </p:spPr>
        <p:txBody>
          <a:bodyPr wrap="square" lIns="0" tIns="0" rIns="0" bIns="0" rtlCol="0" anchor="ctr"/>
          <a:lstStyle/>
          <a:p>
            <a:pPr algn="ctr" indent="0" marL="0">
              <a:buNone/>
            </a:pPr>
            <a:r>
              <a:rPr lang="en-US" sz="4400" b="1" dirty="0">
                <a:solidFill>
                  <a:srgbClr val="2E7D32"/>
                </a:solidFill>
              </a:rPr>
              <a:t>1,636</a:t>
            </a:r>
            <a:endParaRPr lang="en-US" sz="4400" dirty="0"/>
          </a:p>
        </p:txBody>
      </p:sp>
      <p:sp>
        <p:nvSpPr>
          <p:cNvPr id="8" name="Text 6"/>
          <p:cNvSpPr/>
          <p:nvPr/>
        </p:nvSpPr>
        <p:spPr>
          <a:xfrm>
            <a:off x="548640" y="3611880"/>
            <a:ext cx="3566160" cy="457200"/>
          </a:xfrm>
          <a:prstGeom prst="rect">
            <a:avLst/>
          </a:prstGeom>
          <a:noFill/>
          <a:ln/>
        </p:spPr>
        <p:txBody>
          <a:bodyPr wrap="square" lIns="0" tIns="0" rIns="0" bIns="0" rtlCol="0" anchor="ctr"/>
          <a:lstStyle/>
          <a:p>
            <a:pPr algn="ctr" indent="0" marL="0">
              <a:buNone/>
            </a:pPr>
            <a:r>
              <a:rPr lang="en-US" sz="1700" b="1" dirty="0">
                <a:solidFill>
                  <a:srgbClr val="003087"/>
                </a:solidFill>
              </a:rPr>
              <a:t>Well-Calibrated</a:t>
            </a:r>
            <a:endParaRPr lang="en-US" sz="1700" dirty="0"/>
          </a:p>
        </p:txBody>
      </p:sp>
      <p:sp>
        <p:nvSpPr>
          <p:cNvPr id="9" name="Text 7"/>
          <p:cNvSpPr/>
          <p:nvPr/>
        </p:nvSpPr>
        <p:spPr>
          <a:xfrm>
            <a:off x="731520" y="4114800"/>
            <a:ext cx="3200400" cy="777240"/>
          </a:xfrm>
          <a:prstGeom prst="rect">
            <a:avLst/>
          </a:prstGeom>
          <a:noFill/>
          <a:ln/>
        </p:spPr>
        <p:txBody>
          <a:bodyPr wrap="square" lIns="0" tIns="0" rIns="0" bIns="0" rtlCol="0" anchor="ctr"/>
          <a:lstStyle/>
          <a:p>
            <a:pPr algn="ctr" indent="0" marL="0">
              <a:lnSpc>
                <a:spcPts val="1600"/>
              </a:lnSpc>
              <a:buNone/>
            </a:pPr>
            <a:r>
              <a:rPr lang="en-US" sz="1200" dirty="0">
                <a:solidFill>
                  <a:srgbClr val="5A6B7B"/>
                </a:solidFill>
              </a:rPr>
              <a:t>Within ±5% — trust the target</a:t>
            </a:r>
            <a:endParaRPr lang="en-US" sz="1200" dirty="0"/>
          </a:p>
        </p:txBody>
      </p:sp>
      <p:sp>
        <p:nvSpPr>
          <p:cNvPr id="10" name="Shape 8"/>
          <p:cNvSpPr/>
          <p:nvPr/>
        </p:nvSpPr>
        <p:spPr>
          <a:xfrm>
            <a:off x="4315968" y="2514600"/>
            <a:ext cx="3566160" cy="2468880"/>
          </a:xfrm>
          <a:prstGeom prst="roundRect">
            <a:avLst>
              <a:gd name="adj" fmla="val 2963"/>
            </a:avLst>
          </a:prstGeom>
          <a:solidFill>
            <a:srgbClr val="FFFFFF"/>
          </a:solidFill>
          <a:ln/>
          <a:effectLst>
            <a:outerShdw sx="100000" sy="100000" kx="0" ky="0" algn="bl" rotWithShape="0" blurRad="101600" dist="38100" dir="8100000">
              <a:srgbClr val="0A1F44">
                <a:alpha val="16000"/>
              </a:srgbClr>
            </a:outerShdw>
          </a:effectLst>
        </p:spPr>
      </p:sp>
      <p:sp>
        <p:nvSpPr>
          <p:cNvPr id="11" name="Shape 9"/>
          <p:cNvSpPr/>
          <p:nvPr/>
        </p:nvSpPr>
        <p:spPr>
          <a:xfrm>
            <a:off x="4315968" y="2514600"/>
            <a:ext cx="3566160" cy="91440"/>
          </a:xfrm>
          <a:prstGeom prst="rect">
            <a:avLst/>
          </a:prstGeom>
          <a:solidFill>
            <a:srgbClr val="E65100"/>
          </a:solidFill>
          <a:ln/>
        </p:spPr>
      </p:sp>
      <p:sp>
        <p:nvSpPr>
          <p:cNvPr id="12" name="Text 10"/>
          <p:cNvSpPr/>
          <p:nvPr/>
        </p:nvSpPr>
        <p:spPr>
          <a:xfrm>
            <a:off x="4315968" y="2697480"/>
            <a:ext cx="3566160" cy="868680"/>
          </a:xfrm>
          <a:prstGeom prst="rect">
            <a:avLst/>
          </a:prstGeom>
          <a:noFill/>
          <a:ln/>
        </p:spPr>
        <p:txBody>
          <a:bodyPr wrap="square" lIns="0" tIns="0" rIns="0" bIns="0" rtlCol="0" anchor="ctr"/>
          <a:lstStyle/>
          <a:p>
            <a:pPr algn="ctr" indent="0" marL="0">
              <a:buNone/>
            </a:pPr>
            <a:r>
              <a:rPr lang="en-US" sz="4400" b="1" dirty="0">
                <a:solidFill>
                  <a:srgbClr val="E65100"/>
                </a:solidFill>
              </a:rPr>
              <a:t>60</a:t>
            </a:r>
            <a:endParaRPr lang="en-US" sz="4400" dirty="0"/>
          </a:p>
        </p:txBody>
      </p:sp>
      <p:sp>
        <p:nvSpPr>
          <p:cNvPr id="13" name="Text 11"/>
          <p:cNvSpPr/>
          <p:nvPr/>
        </p:nvSpPr>
        <p:spPr>
          <a:xfrm>
            <a:off x="4315968" y="3611880"/>
            <a:ext cx="3566160" cy="457200"/>
          </a:xfrm>
          <a:prstGeom prst="rect">
            <a:avLst/>
          </a:prstGeom>
          <a:noFill/>
          <a:ln/>
        </p:spPr>
        <p:txBody>
          <a:bodyPr wrap="square" lIns="0" tIns="0" rIns="0" bIns="0" rtlCol="0" anchor="ctr"/>
          <a:lstStyle/>
          <a:p>
            <a:pPr algn="ctr" indent="0" marL="0">
              <a:buNone/>
            </a:pPr>
            <a:r>
              <a:rPr lang="en-US" sz="1700" b="1" dirty="0">
                <a:solidFill>
                  <a:srgbClr val="003087"/>
                </a:solidFill>
              </a:rPr>
              <a:t>Under-Targeted</a:t>
            </a:r>
            <a:endParaRPr lang="en-US" sz="1700" dirty="0"/>
          </a:p>
        </p:txBody>
      </p:sp>
      <p:sp>
        <p:nvSpPr>
          <p:cNvPr id="14" name="Text 12"/>
          <p:cNvSpPr/>
          <p:nvPr/>
        </p:nvSpPr>
        <p:spPr>
          <a:xfrm>
            <a:off x="4498848" y="4114800"/>
            <a:ext cx="3200400" cy="777240"/>
          </a:xfrm>
          <a:prstGeom prst="rect">
            <a:avLst/>
          </a:prstGeom>
          <a:noFill/>
          <a:ln/>
        </p:spPr>
        <p:txBody>
          <a:bodyPr wrap="square" lIns="0" tIns="0" rIns="0" bIns="0" rtlCol="0" anchor="ctr"/>
          <a:lstStyle/>
          <a:p>
            <a:pPr algn="ctr" indent="0" marL="0">
              <a:lnSpc>
                <a:spcPts val="1600"/>
              </a:lnSpc>
              <a:buNone/>
            </a:pPr>
            <a:r>
              <a:rPr lang="en-US" sz="1200" dirty="0">
                <a:solidFill>
                  <a:srgbClr val="5A6B7B"/>
                </a:solidFill>
              </a:rPr>
              <a:t>Sandbagged — raise target</a:t>
            </a:r>
            <a:endParaRPr lang="en-US" sz="1200" dirty="0"/>
          </a:p>
        </p:txBody>
      </p:sp>
      <p:sp>
        <p:nvSpPr>
          <p:cNvPr id="15" name="Shape 13"/>
          <p:cNvSpPr/>
          <p:nvPr/>
        </p:nvSpPr>
        <p:spPr>
          <a:xfrm>
            <a:off x="8083296" y="2514600"/>
            <a:ext cx="3566160" cy="2468880"/>
          </a:xfrm>
          <a:prstGeom prst="roundRect">
            <a:avLst>
              <a:gd name="adj" fmla="val 2963"/>
            </a:avLst>
          </a:prstGeom>
          <a:solidFill>
            <a:srgbClr val="FFFFFF"/>
          </a:solidFill>
          <a:ln/>
          <a:effectLst>
            <a:outerShdw sx="100000" sy="100000" kx="0" ky="0" algn="bl" rotWithShape="0" blurRad="101600" dist="38100" dir="8100000">
              <a:srgbClr val="0A1F44">
                <a:alpha val="16000"/>
              </a:srgbClr>
            </a:outerShdw>
          </a:effectLst>
        </p:spPr>
      </p:sp>
      <p:sp>
        <p:nvSpPr>
          <p:cNvPr id="16" name="Shape 14"/>
          <p:cNvSpPr/>
          <p:nvPr/>
        </p:nvSpPr>
        <p:spPr>
          <a:xfrm>
            <a:off x="8083296" y="2514600"/>
            <a:ext cx="3566160" cy="91440"/>
          </a:xfrm>
          <a:prstGeom prst="rect">
            <a:avLst/>
          </a:prstGeom>
          <a:solidFill>
            <a:srgbClr val="C62828"/>
          </a:solidFill>
          <a:ln/>
        </p:spPr>
      </p:sp>
      <p:sp>
        <p:nvSpPr>
          <p:cNvPr id="17" name="Text 15"/>
          <p:cNvSpPr/>
          <p:nvPr/>
        </p:nvSpPr>
        <p:spPr>
          <a:xfrm>
            <a:off x="8083296" y="2697480"/>
            <a:ext cx="3566160" cy="868680"/>
          </a:xfrm>
          <a:prstGeom prst="rect">
            <a:avLst/>
          </a:prstGeom>
          <a:noFill/>
          <a:ln/>
        </p:spPr>
        <p:txBody>
          <a:bodyPr wrap="square" lIns="0" tIns="0" rIns="0" bIns="0" rtlCol="0" anchor="ctr"/>
          <a:lstStyle/>
          <a:p>
            <a:pPr algn="ctr" indent="0" marL="0">
              <a:buNone/>
            </a:pPr>
            <a:r>
              <a:rPr lang="en-US" sz="4400" b="1" dirty="0">
                <a:solidFill>
                  <a:srgbClr val="C62828"/>
                </a:solidFill>
              </a:rPr>
              <a:t>31</a:t>
            </a:r>
            <a:endParaRPr lang="en-US" sz="4400" dirty="0"/>
          </a:p>
        </p:txBody>
      </p:sp>
      <p:sp>
        <p:nvSpPr>
          <p:cNvPr id="18" name="Text 16"/>
          <p:cNvSpPr/>
          <p:nvPr/>
        </p:nvSpPr>
        <p:spPr>
          <a:xfrm>
            <a:off x="8083296" y="3611880"/>
            <a:ext cx="3566160" cy="457200"/>
          </a:xfrm>
          <a:prstGeom prst="rect">
            <a:avLst/>
          </a:prstGeom>
          <a:noFill/>
          <a:ln/>
        </p:spPr>
        <p:txBody>
          <a:bodyPr wrap="square" lIns="0" tIns="0" rIns="0" bIns="0" rtlCol="0" anchor="ctr"/>
          <a:lstStyle/>
          <a:p>
            <a:pPr algn="ctr" indent="0" marL="0">
              <a:buNone/>
            </a:pPr>
            <a:r>
              <a:rPr lang="en-US" sz="1700" b="1" dirty="0">
                <a:solidFill>
                  <a:srgbClr val="003087"/>
                </a:solidFill>
              </a:rPr>
              <a:t>Over-Targeted</a:t>
            </a:r>
            <a:endParaRPr lang="en-US" sz="1700" dirty="0"/>
          </a:p>
        </p:txBody>
      </p:sp>
      <p:sp>
        <p:nvSpPr>
          <p:cNvPr id="19" name="Text 17"/>
          <p:cNvSpPr/>
          <p:nvPr/>
        </p:nvSpPr>
        <p:spPr>
          <a:xfrm>
            <a:off x="8266176" y="4114800"/>
            <a:ext cx="3200400" cy="777240"/>
          </a:xfrm>
          <a:prstGeom prst="rect">
            <a:avLst/>
          </a:prstGeom>
          <a:noFill/>
          <a:ln/>
        </p:spPr>
        <p:txBody>
          <a:bodyPr wrap="square" lIns="0" tIns="0" rIns="0" bIns="0" rtlCol="0" anchor="ctr"/>
          <a:lstStyle/>
          <a:p>
            <a:pPr algn="ctr" indent="0" marL="0">
              <a:lnSpc>
                <a:spcPts val="1600"/>
              </a:lnSpc>
              <a:buNone/>
            </a:pPr>
            <a:r>
              <a:rPr lang="en-US" sz="1200" dirty="0">
                <a:solidFill>
                  <a:srgbClr val="5A6B7B"/>
                </a:solidFill>
              </a:rPr>
              <a:t>Too aggressive — review</a:t>
            </a:r>
            <a:endParaRPr lang="en-US" sz="1200" dirty="0"/>
          </a:p>
        </p:txBody>
      </p:sp>
      <p:sp>
        <p:nvSpPr>
          <p:cNvPr id="20" name="Shape 18"/>
          <p:cNvSpPr/>
          <p:nvPr/>
        </p:nvSpPr>
        <p:spPr>
          <a:xfrm>
            <a:off x="548640" y="5303520"/>
            <a:ext cx="11064240" cy="1097280"/>
          </a:xfrm>
          <a:prstGeom prst="roundRect">
            <a:avLst>
              <a:gd name="adj" fmla="val 6667"/>
            </a:avLst>
          </a:prstGeom>
          <a:solidFill>
            <a:srgbClr val="003087"/>
          </a:solidFill>
          <a:ln/>
          <a:effectLst>
            <a:outerShdw sx="100000" sy="100000" kx="0" ky="0" algn="bl" rotWithShape="0" blurRad="101600" dist="38100" dir="8100000">
              <a:srgbClr val="0A1F44">
                <a:alpha val="16000"/>
              </a:srgbClr>
            </a:outerShdw>
          </a:effectLst>
        </p:spPr>
      </p:sp>
      <p:sp>
        <p:nvSpPr>
          <p:cNvPr id="21" name="Text 19"/>
          <p:cNvSpPr/>
          <p:nvPr/>
        </p:nvSpPr>
        <p:spPr>
          <a:xfrm>
            <a:off x="548640" y="5349240"/>
            <a:ext cx="11064240" cy="502920"/>
          </a:xfrm>
          <a:prstGeom prst="rect">
            <a:avLst/>
          </a:prstGeom>
          <a:noFill/>
          <a:ln/>
        </p:spPr>
        <p:txBody>
          <a:bodyPr wrap="square" lIns="0" tIns="0" rIns="0" bIns="0" rtlCol="0" anchor="ctr"/>
          <a:lstStyle/>
          <a:p>
            <a:pPr algn="ctr" indent="0" marL="0">
              <a:buNone/>
            </a:pPr>
            <a:r>
              <a:rPr lang="en-US" sz="1800" b="1" dirty="0">
                <a:solidFill>
                  <a:srgbClr val="FFFFFF"/>
                </a:solidFill>
              </a:rPr>
              <a:t>1,727 stores manually reviewed today  →  only 91 stores need attention with our model</a:t>
            </a:r>
            <a:endParaRPr lang="en-US" sz="1800" dirty="0"/>
          </a:p>
        </p:txBody>
      </p:sp>
      <p:sp>
        <p:nvSpPr>
          <p:cNvPr id="22" name="Text 20"/>
          <p:cNvSpPr/>
          <p:nvPr/>
        </p:nvSpPr>
        <p:spPr>
          <a:xfrm>
            <a:off x="548640" y="5852160"/>
            <a:ext cx="11064240" cy="365760"/>
          </a:xfrm>
          <a:prstGeom prst="rect">
            <a:avLst/>
          </a:prstGeom>
          <a:noFill/>
          <a:ln/>
        </p:spPr>
        <p:txBody>
          <a:bodyPr wrap="square" lIns="0" tIns="0" rIns="0" bIns="0" rtlCol="0" anchor="ctr"/>
          <a:lstStyle/>
          <a:p>
            <a:pPr algn="ctr" indent="0" marL="0">
              <a:buNone/>
            </a:pPr>
            <a:r>
              <a:rPr lang="en-US" sz="1300" i="1" dirty="0">
                <a:solidFill>
                  <a:srgbClr val="F4B400"/>
                </a:solidFill>
              </a:rPr>
              <a:t>a ~95% reduction in planner override workload</a:t>
            </a:r>
            <a:endParaRPr lang="en-US" sz="1300" dirty="0"/>
          </a:p>
        </p:txBody>
      </p:sp>
      <p:sp>
        <p:nvSpPr>
          <p:cNvPr id="23" name="Shape 21"/>
          <p:cNvSpPr/>
          <p:nvPr/>
        </p:nvSpPr>
        <p:spPr>
          <a:xfrm>
            <a:off x="0" y="6565392"/>
            <a:ext cx="12191695" cy="292608"/>
          </a:xfrm>
          <a:prstGeom prst="rect">
            <a:avLst/>
          </a:prstGeom>
          <a:solidFill>
            <a:srgbClr val="003087"/>
          </a:solidFill>
          <a:ln/>
        </p:spPr>
      </p:sp>
      <p:sp>
        <p:nvSpPr>
          <p:cNvPr id="24" name="Text 22"/>
          <p:cNvSpPr/>
          <p:nvPr/>
        </p:nvSpPr>
        <p:spPr>
          <a:xfrm>
            <a:off x="457200" y="6565392"/>
            <a:ext cx="6400800" cy="292608"/>
          </a:xfrm>
          <a:prstGeom prst="rect">
            <a:avLst/>
          </a:prstGeom>
          <a:noFill/>
          <a:ln/>
        </p:spPr>
        <p:txBody>
          <a:bodyPr wrap="square" lIns="0" tIns="0" rIns="0" bIns="0" rtlCol="0" anchor="ctr"/>
          <a:lstStyle/>
          <a:p>
            <a:pPr indent="0" marL="0">
              <a:buNone/>
            </a:pPr>
            <a:r>
              <a:rPr lang="en-US" sz="900" dirty="0">
                <a:solidFill>
                  <a:srgbClr val="CADCFC"/>
                </a:solidFill>
              </a:rPr>
              <a:t>Capstone 8 · Group 8 · IIM Calcutta APAL02</a:t>
            </a:r>
            <a:endParaRPr lang="en-US" sz="900" dirty="0"/>
          </a:p>
        </p:txBody>
      </p:sp>
      <p:sp>
        <p:nvSpPr>
          <p:cNvPr id="25" name="Text 23"/>
          <p:cNvSpPr/>
          <p:nvPr/>
        </p:nvSpPr>
        <p:spPr>
          <a:xfrm>
            <a:off x="11094415" y="6565392"/>
            <a:ext cx="822960" cy="292608"/>
          </a:xfrm>
          <a:prstGeom prst="rect">
            <a:avLst/>
          </a:prstGeom>
          <a:noFill/>
          <a:ln/>
        </p:spPr>
        <p:txBody>
          <a:bodyPr wrap="square" lIns="0" tIns="0" rIns="0" bIns="0" rtlCol="0" anchor="ctr"/>
          <a:lstStyle/>
          <a:p>
            <a:pPr algn="r" indent="0" marL="0">
              <a:buNone/>
            </a:pPr>
            <a:r>
              <a:rPr lang="en-US" sz="900" dirty="0">
                <a:solidFill>
                  <a:srgbClr val="CADCFC"/>
                </a:solidFill>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300" kern="0" dirty="0">
                <a:solidFill>
                  <a:srgbClr val="0277BD"/>
                </a:solidFill>
              </a:rPr>
              <a:t>STRATEGIC OVERLAY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dirty="0">
                <a:solidFill>
                  <a:srgbClr val="003087"/>
                </a:solidFill>
                <a:latin typeface="Georgia" pitchFamily="34" charset="0"/>
                <a:ea typeface="Georgia" pitchFamily="34" charset="-122"/>
                <a:cs typeface="Georgia" pitchFamily="34" charset="-120"/>
              </a:rPr>
              <a:t>Role-of-Store — one model, 5 playbooks</a:t>
            </a:r>
            <a:endParaRPr lang="en-US" sz="3200" dirty="0"/>
          </a:p>
        </p:txBody>
      </p:sp>
      <p:graphicFrame>
        <p:nvGraphicFramePr>
          <p:cNvPr id="4" name="Chart 0" descr=""/>
          <p:cNvGraphicFramePr/>
          <p:nvPr/>
        </p:nvGraphicFramePr>
        <p:xfrm>
          <a:off x="548640" y="1783080"/>
          <a:ext cx="475488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1828800"/>
            <a:ext cx="5943600" cy="932688"/>
          </a:xfrm>
          <a:prstGeom prst="roundRect">
            <a:avLst>
              <a:gd name="adj" fmla="val 7843"/>
            </a:avLst>
          </a:prstGeom>
          <a:solidFill>
            <a:srgbClr val="FFFFFF"/>
          </a:solidFill>
          <a:ln/>
          <a:effectLst>
            <a:outerShdw sx="100000" sy="100000" kx="0" ky="0" algn="bl" rotWithShape="0" blurRad="101600" dist="38100" dir="8100000">
              <a:srgbClr val="0A1F44">
                <a:alpha val="16000"/>
              </a:srgbClr>
            </a:outerShdw>
          </a:effectLst>
        </p:spPr>
      </p:sp>
      <p:sp>
        <p:nvSpPr>
          <p:cNvPr id="6" name="Shape 3"/>
          <p:cNvSpPr/>
          <p:nvPr/>
        </p:nvSpPr>
        <p:spPr>
          <a:xfrm>
            <a:off x="5669280" y="1828800"/>
            <a:ext cx="82296" cy="932688"/>
          </a:xfrm>
          <a:prstGeom prst="rect">
            <a:avLst/>
          </a:prstGeom>
          <a:solidFill>
            <a:srgbClr val="1565C0"/>
          </a:solidFill>
          <a:ln/>
        </p:spPr>
      </p:sp>
      <p:sp>
        <p:nvSpPr>
          <p:cNvPr id="7" name="Text 4"/>
          <p:cNvSpPr/>
          <p:nvPr/>
        </p:nvSpPr>
        <p:spPr>
          <a:xfrm>
            <a:off x="5897880" y="1920240"/>
            <a:ext cx="5486400" cy="365760"/>
          </a:xfrm>
          <a:prstGeom prst="rect">
            <a:avLst/>
          </a:prstGeom>
          <a:noFill/>
          <a:ln/>
        </p:spPr>
        <p:txBody>
          <a:bodyPr wrap="square" lIns="0" tIns="0" rIns="0" bIns="0" rtlCol="0" anchor="ctr"/>
          <a:lstStyle/>
          <a:p>
            <a:pPr indent="0" marL="0">
              <a:buNone/>
            </a:pPr>
            <a:r>
              <a:rPr lang="en-US" sz="1500" b="1" dirty="0">
                <a:solidFill>
                  <a:srgbClr val="003087"/>
                </a:solidFill>
              </a:rPr>
              <a:t>High Growth</a:t>
            </a:r>
            <a:endParaRPr lang="en-US" sz="1500" dirty="0"/>
          </a:p>
        </p:txBody>
      </p:sp>
      <p:sp>
        <p:nvSpPr>
          <p:cNvPr id="8" name="Text 5"/>
          <p:cNvSpPr/>
          <p:nvPr/>
        </p:nvSpPr>
        <p:spPr>
          <a:xfrm>
            <a:off x="5897880" y="2286000"/>
            <a:ext cx="5532120" cy="457200"/>
          </a:xfrm>
          <a:prstGeom prst="rect">
            <a:avLst/>
          </a:prstGeom>
          <a:noFill/>
          <a:ln/>
        </p:spPr>
        <p:txBody>
          <a:bodyPr wrap="square" lIns="0" tIns="0" rIns="0" bIns="0" rtlCol="0" anchor="ctr"/>
          <a:lstStyle/>
          <a:p>
            <a:pPr indent="0" marL="0">
              <a:buNone/>
            </a:pPr>
            <a:r>
              <a:rPr lang="en-US" sz="1200" dirty="0">
                <a:solidFill>
                  <a:srgbClr val="1A2332"/>
                </a:solidFill>
              </a:rPr>
              <a:t>Expanding market + outperforming → raise targets aggressively</a:t>
            </a:r>
            <a:endParaRPr lang="en-US" sz="1200" dirty="0"/>
          </a:p>
        </p:txBody>
      </p:sp>
      <p:sp>
        <p:nvSpPr>
          <p:cNvPr id="9" name="Shape 6"/>
          <p:cNvSpPr/>
          <p:nvPr/>
        </p:nvSpPr>
        <p:spPr>
          <a:xfrm>
            <a:off x="5669280" y="2907792"/>
            <a:ext cx="5943600" cy="932688"/>
          </a:xfrm>
          <a:prstGeom prst="roundRect">
            <a:avLst>
              <a:gd name="adj" fmla="val 7843"/>
            </a:avLst>
          </a:prstGeom>
          <a:solidFill>
            <a:srgbClr val="FFFFFF"/>
          </a:solidFill>
          <a:ln/>
          <a:effectLst>
            <a:outerShdw sx="100000" sy="100000" kx="0" ky="0" algn="bl" rotWithShape="0" blurRad="101600" dist="38100" dir="8100000">
              <a:srgbClr val="0A1F44">
                <a:alpha val="16000"/>
              </a:srgbClr>
            </a:outerShdw>
          </a:effectLst>
        </p:spPr>
      </p:sp>
      <p:sp>
        <p:nvSpPr>
          <p:cNvPr id="10" name="Shape 7"/>
          <p:cNvSpPr/>
          <p:nvPr/>
        </p:nvSpPr>
        <p:spPr>
          <a:xfrm>
            <a:off x="5669280" y="2907792"/>
            <a:ext cx="82296" cy="932688"/>
          </a:xfrm>
          <a:prstGeom prst="rect">
            <a:avLst/>
          </a:prstGeom>
          <a:solidFill>
            <a:srgbClr val="43A047"/>
          </a:solidFill>
          <a:ln/>
        </p:spPr>
      </p:sp>
      <p:sp>
        <p:nvSpPr>
          <p:cNvPr id="11" name="Text 8"/>
          <p:cNvSpPr/>
          <p:nvPr/>
        </p:nvSpPr>
        <p:spPr>
          <a:xfrm>
            <a:off x="5897880" y="2999232"/>
            <a:ext cx="5486400" cy="365760"/>
          </a:xfrm>
          <a:prstGeom prst="rect">
            <a:avLst/>
          </a:prstGeom>
          <a:noFill/>
          <a:ln/>
        </p:spPr>
        <p:txBody>
          <a:bodyPr wrap="square" lIns="0" tIns="0" rIns="0" bIns="0" rtlCol="0" anchor="ctr"/>
          <a:lstStyle/>
          <a:p>
            <a:pPr indent="0" marL="0">
              <a:buNone/>
            </a:pPr>
            <a:r>
              <a:rPr lang="en-US" sz="1500" b="1" dirty="0">
                <a:solidFill>
                  <a:srgbClr val="003087"/>
                </a:solidFill>
              </a:rPr>
              <a:t>Growth / Neutral</a:t>
            </a:r>
            <a:endParaRPr lang="en-US" sz="1500" dirty="0"/>
          </a:p>
        </p:txBody>
      </p:sp>
      <p:sp>
        <p:nvSpPr>
          <p:cNvPr id="12" name="Text 9"/>
          <p:cNvSpPr/>
          <p:nvPr/>
        </p:nvSpPr>
        <p:spPr>
          <a:xfrm>
            <a:off x="5897880" y="3364992"/>
            <a:ext cx="5532120" cy="457200"/>
          </a:xfrm>
          <a:prstGeom prst="rect">
            <a:avLst/>
          </a:prstGeom>
          <a:noFill/>
          <a:ln/>
        </p:spPr>
        <p:txBody>
          <a:bodyPr wrap="square" lIns="0" tIns="0" rIns="0" bIns="0" rtlCol="0" anchor="ctr"/>
          <a:lstStyle/>
          <a:p>
            <a:pPr indent="0" marL="0">
              <a:buNone/>
            </a:pPr>
            <a:r>
              <a:rPr lang="en-US" sz="1200" dirty="0">
                <a:solidFill>
                  <a:srgbClr val="1A2332"/>
                </a:solidFill>
              </a:rPr>
              <a:t>Moderate or stable signals → trust data-driven target</a:t>
            </a:r>
            <a:endParaRPr lang="en-US" sz="1200" dirty="0"/>
          </a:p>
        </p:txBody>
      </p:sp>
      <p:sp>
        <p:nvSpPr>
          <p:cNvPr id="13" name="Shape 10"/>
          <p:cNvSpPr/>
          <p:nvPr/>
        </p:nvSpPr>
        <p:spPr>
          <a:xfrm>
            <a:off x="5669280" y="3986784"/>
            <a:ext cx="5943600" cy="932688"/>
          </a:xfrm>
          <a:prstGeom prst="roundRect">
            <a:avLst>
              <a:gd name="adj" fmla="val 7843"/>
            </a:avLst>
          </a:prstGeom>
          <a:solidFill>
            <a:srgbClr val="FFFFFF"/>
          </a:solidFill>
          <a:ln/>
          <a:effectLst>
            <a:outerShdw sx="100000" sy="100000" kx="0" ky="0" algn="bl" rotWithShape="0" blurRad="101600" dist="38100" dir="8100000">
              <a:srgbClr val="0A1F44">
                <a:alpha val="16000"/>
              </a:srgbClr>
            </a:outerShdw>
          </a:effectLst>
        </p:spPr>
      </p:sp>
      <p:sp>
        <p:nvSpPr>
          <p:cNvPr id="14" name="Shape 11"/>
          <p:cNvSpPr/>
          <p:nvPr/>
        </p:nvSpPr>
        <p:spPr>
          <a:xfrm>
            <a:off x="5669280" y="3986784"/>
            <a:ext cx="82296" cy="932688"/>
          </a:xfrm>
          <a:prstGeom prst="rect">
            <a:avLst/>
          </a:prstGeom>
          <a:solidFill>
            <a:srgbClr val="FF8F00"/>
          </a:solidFill>
          <a:ln/>
        </p:spPr>
      </p:sp>
      <p:sp>
        <p:nvSpPr>
          <p:cNvPr id="15" name="Text 12"/>
          <p:cNvSpPr/>
          <p:nvPr/>
        </p:nvSpPr>
        <p:spPr>
          <a:xfrm>
            <a:off x="5897880" y="4078224"/>
            <a:ext cx="5486400" cy="365760"/>
          </a:xfrm>
          <a:prstGeom prst="rect">
            <a:avLst/>
          </a:prstGeom>
          <a:noFill/>
          <a:ln/>
        </p:spPr>
        <p:txBody>
          <a:bodyPr wrap="square" lIns="0" tIns="0" rIns="0" bIns="0" rtlCol="0" anchor="ctr"/>
          <a:lstStyle/>
          <a:p>
            <a:pPr indent="0" marL="0">
              <a:buNone/>
            </a:pPr>
            <a:r>
              <a:rPr lang="en-US" sz="1500" b="1" dirty="0">
                <a:solidFill>
                  <a:srgbClr val="003087"/>
                </a:solidFill>
              </a:rPr>
              <a:t>Maintain</a:t>
            </a:r>
            <a:endParaRPr lang="en-US" sz="1500" dirty="0"/>
          </a:p>
        </p:txBody>
      </p:sp>
      <p:sp>
        <p:nvSpPr>
          <p:cNvPr id="16" name="Text 13"/>
          <p:cNvSpPr/>
          <p:nvPr/>
        </p:nvSpPr>
        <p:spPr>
          <a:xfrm>
            <a:off x="5897880" y="4443984"/>
            <a:ext cx="5532120" cy="457200"/>
          </a:xfrm>
          <a:prstGeom prst="rect">
            <a:avLst/>
          </a:prstGeom>
          <a:noFill/>
          <a:ln/>
        </p:spPr>
        <p:txBody>
          <a:bodyPr wrap="square" lIns="0" tIns="0" rIns="0" bIns="0" rtlCol="0" anchor="ctr"/>
          <a:lstStyle/>
          <a:p>
            <a:pPr indent="0" marL="0">
              <a:buNone/>
            </a:pPr>
            <a:r>
              <a:rPr lang="en-US" sz="1200" dirty="0">
                <a:solidFill>
                  <a:srgbClr val="1A2332"/>
                </a:solidFill>
              </a:rPr>
              <a:t>Aging market, steady demand → hold targets, monitor</a:t>
            </a:r>
            <a:endParaRPr lang="en-US" sz="1200" dirty="0"/>
          </a:p>
        </p:txBody>
      </p:sp>
      <p:sp>
        <p:nvSpPr>
          <p:cNvPr id="17" name="Shape 14"/>
          <p:cNvSpPr/>
          <p:nvPr/>
        </p:nvSpPr>
        <p:spPr>
          <a:xfrm>
            <a:off x="5669280" y="5065776"/>
            <a:ext cx="5943600" cy="932688"/>
          </a:xfrm>
          <a:prstGeom prst="roundRect">
            <a:avLst>
              <a:gd name="adj" fmla="val 7843"/>
            </a:avLst>
          </a:prstGeom>
          <a:solidFill>
            <a:srgbClr val="FFFFFF"/>
          </a:solidFill>
          <a:ln/>
          <a:effectLst>
            <a:outerShdw sx="100000" sy="100000" kx="0" ky="0" algn="bl" rotWithShape="0" blurRad="101600" dist="38100" dir="8100000">
              <a:srgbClr val="0A1F44">
                <a:alpha val="16000"/>
              </a:srgbClr>
            </a:outerShdw>
          </a:effectLst>
        </p:spPr>
      </p:sp>
      <p:sp>
        <p:nvSpPr>
          <p:cNvPr id="18" name="Shape 15"/>
          <p:cNvSpPr/>
          <p:nvPr/>
        </p:nvSpPr>
        <p:spPr>
          <a:xfrm>
            <a:off x="5669280" y="5065776"/>
            <a:ext cx="82296" cy="932688"/>
          </a:xfrm>
          <a:prstGeom prst="rect">
            <a:avLst/>
          </a:prstGeom>
          <a:solidFill>
            <a:srgbClr val="C62828"/>
          </a:solidFill>
          <a:ln/>
        </p:spPr>
      </p:sp>
      <p:sp>
        <p:nvSpPr>
          <p:cNvPr id="19" name="Text 16"/>
          <p:cNvSpPr/>
          <p:nvPr/>
        </p:nvSpPr>
        <p:spPr>
          <a:xfrm>
            <a:off x="5897880" y="5157216"/>
            <a:ext cx="5486400" cy="365760"/>
          </a:xfrm>
          <a:prstGeom prst="rect">
            <a:avLst/>
          </a:prstGeom>
          <a:noFill/>
          <a:ln/>
        </p:spPr>
        <p:txBody>
          <a:bodyPr wrap="square" lIns="0" tIns="0" rIns="0" bIns="0" rtlCol="0" anchor="ctr"/>
          <a:lstStyle/>
          <a:p>
            <a:pPr indent="0" marL="0">
              <a:buNone/>
            </a:pPr>
            <a:r>
              <a:rPr lang="en-US" sz="1500" b="1" dirty="0">
                <a:solidFill>
                  <a:srgbClr val="003087"/>
                </a:solidFill>
              </a:rPr>
              <a:t>Defend</a:t>
            </a:r>
            <a:endParaRPr lang="en-US" sz="1500" dirty="0"/>
          </a:p>
        </p:txBody>
      </p:sp>
      <p:sp>
        <p:nvSpPr>
          <p:cNvPr id="20" name="Text 17"/>
          <p:cNvSpPr/>
          <p:nvPr/>
        </p:nvSpPr>
        <p:spPr>
          <a:xfrm>
            <a:off x="5897880" y="5522976"/>
            <a:ext cx="5532120" cy="457200"/>
          </a:xfrm>
          <a:prstGeom prst="rect">
            <a:avLst/>
          </a:prstGeom>
          <a:noFill/>
          <a:ln/>
        </p:spPr>
        <p:txBody>
          <a:bodyPr wrap="square" lIns="0" tIns="0" rIns="0" bIns="0" rtlCol="0" anchor="ctr"/>
          <a:lstStyle/>
          <a:p>
            <a:pPr indent="0" marL="0">
              <a:buNone/>
            </a:pPr>
            <a:r>
              <a:rPr lang="en-US" sz="1200" dirty="0">
                <a:solidFill>
                  <a:srgbClr val="1A2332"/>
                </a:solidFill>
              </a:rPr>
              <a:t>High competition + underperforming → conservative, protect share</a:t>
            </a:r>
            <a:endParaRPr lang="en-US" sz="1200" dirty="0"/>
          </a:p>
        </p:txBody>
      </p:sp>
      <p:sp>
        <p:nvSpPr>
          <p:cNvPr id="21" name="Shape 18"/>
          <p:cNvSpPr/>
          <p:nvPr/>
        </p:nvSpPr>
        <p:spPr>
          <a:xfrm>
            <a:off x="0" y="6565392"/>
            <a:ext cx="12191695" cy="292608"/>
          </a:xfrm>
          <a:prstGeom prst="rect">
            <a:avLst/>
          </a:prstGeom>
          <a:solidFill>
            <a:srgbClr val="003087"/>
          </a:solidFill>
          <a:ln/>
        </p:spPr>
      </p:sp>
      <p:sp>
        <p:nvSpPr>
          <p:cNvPr id="22" name="Text 19"/>
          <p:cNvSpPr/>
          <p:nvPr/>
        </p:nvSpPr>
        <p:spPr>
          <a:xfrm>
            <a:off x="457200" y="6565392"/>
            <a:ext cx="6400800" cy="292608"/>
          </a:xfrm>
          <a:prstGeom prst="rect">
            <a:avLst/>
          </a:prstGeom>
          <a:noFill/>
          <a:ln/>
        </p:spPr>
        <p:txBody>
          <a:bodyPr wrap="square" lIns="0" tIns="0" rIns="0" bIns="0" rtlCol="0" anchor="ctr"/>
          <a:lstStyle/>
          <a:p>
            <a:pPr indent="0" marL="0">
              <a:buNone/>
            </a:pPr>
            <a:r>
              <a:rPr lang="en-US" sz="900" dirty="0">
                <a:solidFill>
                  <a:srgbClr val="CADCFC"/>
                </a:solidFill>
              </a:rPr>
              <a:t>Capstone 8 · Group 8 · IIM Calcutta APAL02</a:t>
            </a:r>
            <a:endParaRPr lang="en-US" sz="900" dirty="0"/>
          </a:p>
        </p:txBody>
      </p:sp>
      <p:sp>
        <p:nvSpPr>
          <p:cNvPr id="23" name="Text 20"/>
          <p:cNvSpPr/>
          <p:nvPr/>
        </p:nvSpPr>
        <p:spPr>
          <a:xfrm>
            <a:off x="11094415" y="6565392"/>
            <a:ext cx="822960" cy="292608"/>
          </a:xfrm>
          <a:prstGeom prst="rect">
            <a:avLst/>
          </a:prstGeom>
          <a:noFill/>
          <a:ln/>
        </p:spPr>
        <p:txBody>
          <a:bodyPr wrap="square" lIns="0" tIns="0" rIns="0" bIns="0" rtlCol="0" anchor="ctr"/>
          <a:lstStyle/>
          <a:p>
            <a:pPr algn="r" indent="0" marL="0">
              <a:buNone/>
            </a:pPr>
            <a:r>
              <a:rPr lang="en-US" sz="900" dirty="0">
                <a:solidFill>
                  <a:srgbClr val="CADCFC"/>
                </a:solidFill>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300" kern="0" dirty="0">
                <a:solidFill>
                  <a:srgbClr val="0277BD"/>
                </a:solidFill>
              </a:rPr>
              <a:t>REFLECTIONS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dirty="0">
                <a:solidFill>
                  <a:srgbClr val="003087"/>
                </a:solidFill>
                <a:latin typeface="Georgia" pitchFamily="34" charset="0"/>
                <a:ea typeface="Georgia" pitchFamily="34" charset="-122"/>
                <a:cs typeface="Georgia" pitchFamily="34" charset="-120"/>
              </a:rPr>
              <a:t>What worked, what's honest, what's next</a:t>
            </a:r>
            <a:endParaRPr lang="en-US" sz="3200" dirty="0"/>
          </a:p>
        </p:txBody>
      </p:sp>
      <p:sp>
        <p:nvSpPr>
          <p:cNvPr id="4" name="Shape 2"/>
          <p:cNvSpPr/>
          <p:nvPr/>
        </p:nvSpPr>
        <p:spPr>
          <a:xfrm>
            <a:off x="548640" y="1783080"/>
            <a:ext cx="3703320" cy="4434840"/>
          </a:xfrm>
          <a:prstGeom prst="roundRect">
            <a:avLst>
              <a:gd name="adj" fmla="val 1975"/>
            </a:avLst>
          </a:prstGeom>
          <a:solidFill>
            <a:srgbClr val="FFFFFF"/>
          </a:solidFill>
          <a:ln/>
          <a:effectLst>
            <a:outerShdw sx="100000" sy="100000" kx="0" ky="0" algn="bl" rotWithShape="0" blurRad="101600" dist="38100" dir="8100000">
              <a:srgbClr val="0A1F44">
                <a:alpha val="16000"/>
              </a:srgbClr>
            </a:outerShdw>
          </a:effectLst>
        </p:spPr>
      </p:sp>
      <p:sp>
        <p:nvSpPr>
          <p:cNvPr id="5" name="Shape 3"/>
          <p:cNvSpPr/>
          <p:nvPr/>
        </p:nvSpPr>
        <p:spPr>
          <a:xfrm>
            <a:off x="548640" y="1783080"/>
            <a:ext cx="3703320" cy="502920"/>
          </a:xfrm>
          <a:prstGeom prst="rect">
            <a:avLst/>
          </a:prstGeom>
          <a:solidFill>
            <a:srgbClr val="2E7D32"/>
          </a:solidFill>
          <a:ln/>
        </p:spPr>
      </p:sp>
      <p:sp>
        <p:nvSpPr>
          <p:cNvPr id="6" name="Text 4"/>
          <p:cNvSpPr/>
          <p:nvPr/>
        </p:nvSpPr>
        <p:spPr>
          <a:xfrm>
            <a:off x="731520" y="1783080"/>
            <a:ext cx="3520440" cy="502920"/>
          </a:xfrm>
          <a:prstGeom prst="rect">
            <a:avLst/>
          </a:prstGeom>
          <a:noFill/>
          <a:ln/>
        </p:spPr>
        <p:txBody>
          <a:bodyPr wrap="square" lIns="0" tIns="0" rIns="0" bIns="0" rtlCol="0" anchor="ctr"/>
          <a:lstStyle/>
          <a:p>
            <a:pPr indent="0" marL="0">
              <a:buNone/>
            </a:pPr>
            <a:r>
              <a:rPr lang="en-US" sz="1400" b="1" dirty="0">
                <a:solidFill>
                  <a:srgbClr val="FFFFFF"/>
                </a:solidFill>
              </a:rPr>
              <a:t>What worked well</a:t>
            </a:r>
            <a:endParaRPr lang="en-US" sz="1400" dirty="0"/>
          </a:p>
        </p:txBody>
      </p:sp>
      <p:sp>
        <p:nvSpPr>
          <p:cNvPr id="7" name="Text 5"/>
          <p:cNvSpPr/>
          <p:nvPr/>
        </p:nvSpPr>
        <p:spPr>
          <a:xfrm>
            <a:off x="731520" y="2468880"/>
            <a:ext cx="3383280" cy="3657600"/>
          </a:xfrm>
          <a:prstGeom prst="rect">
            <a:avLst/>
          </a:prstGeom>
          <a:noFill/>
          <a:ln/>
        </p:spPr>
        <p:txBody>
          <a:bodyPr wrap="square" lIns="0" tIns="0" rIns="0" bIns="0" rtlCol="0" anchor="t"/>
          <a:lstStyle/>
          <a:p>
            <a:pPr marL="342900" indent="-342900">
              <a:spcAft>
                <a:spcPts val="1400"/>
              </a:spcAft>
              <a:buSzPct val="100000"/>
              <a:buChar char="•"/>
            </a:pPr>
            <a:r>
              <a:rPr lang="en-US" sz="1150" dirty="0">
                <a:solidFill>
                  <a:srgbClr val="1A2332"/>
                </a:solidFill>
              </a:rPr>
              <a:t>Leakage-safe lag features turned a hard problem tractable</a:t>
            </a:r>
            <a:endParaRPr lang="en-US" sz="1150" dirty="0"/>
          </a:p>
          <a:p>
            <a:pPr marL="342900" indent="-342900">
              <a:spcAft>
                <a:spcPts val="1400"/>
              </a:spcAft>
              <a:buSzPct val="100000"/>
              <a:buChar char="•"/>
            </a:pPr>
            <a:r>
              <a:rPr lang="en-US" sz="1150" dirty="0">
                <a:solidFill>
                  <a:srgbClr val="1A2332"/>
                </a:solidFill>
              </a:rPr>
              <a:t>Trimming to 16 features improved bias AND explainability</a:t>
            </a:r>
            <a:endParaRPr lang="en-US" sz="1150" dirty="0"/>
          </a:p>
          <a:p>
            <a:pPr marL="342900" indent="-342900">
              <a:spcAft>
                <a:spcPts val="1400"/>
              </a:spcAft>
              <a:buSzPct val="100000"/>
              <a:buChar char="•"/>
            </a:pPr>
            <a:r>
              <a:rPr lang="en-US" sz="1150" dirty="0">
                <a:solidFill>
                  <a:srgbClr val="1A2332"/>
                </a:solidFill>
              </a:rPr>
              <a:t>Store-Level Accuracy Loop — the real business differentiator</a:t>
            </a:r>
            <a:endParaRPr lang="en-US" sz="1150" dirty="0"/>
          </a:p>
          <a:p>
            <a:pPr marL="342900" indent="-342900">
              <a:spcAft>
                <a:spcPts val="1400"/>
              </a:spcAft>
              <a:buSzPct val="100000"/>
              <a:buChar char="•"/>
            </a:pPr>
            <a:r>
              <a:rPr lang="en-US" sz="1150" dirty="0">
                <a:solidFill>
                  <a:srgbClr val="1A2332"/>
                </a:solidFill>
              </a:rPr>
              <a:t>3 model families agreeing at ~7% — robust, not a fluke</a:t>
            </a:r>
            <a:endParaRPr lang="en-US" sz="1150" dirty="0"/>
          </a:p>
          <a:p>
            <a:pPr marL="342900" indent="-342900">
              <a:spcAft>
                <a:spcPts val="1400"/>
              </a:spcAft>
              <a:buSzPct val="100000"/>
              <a:buChar char="•"/>
            </a:pPr>
            <a:r>
              <a:rPr lang="en-US" sz="1150" dirty="0">
                <a:solidFill>
                  <a:srgbClr val="1A2332"/>
                </a:solidFill>
              </a:rPr>
              <a:t>Discipline on leakage (refused Plan Sales USD at corr 0.986)</a:t>
            </a:r>
            <a:endParaRPr lang="en-US" sz="1150" dirty="0"/>
          </a:p>
        </p:txBody>
      </p:sp>
      <p:sp>
        <p:nvSpPr>
          <p:cNvPr id="8" name="Shape 6"/>
          <p:cNvSpPr/>
          <p:nvPr/>
        </p:nvSpPr>
        <p:spPr>
          <a:xfrm>
            <a:off x="4434840" y="1783080"/>
            <a:ext cx="3703320" cy="4434840"/>
          </a:xfrm>
          <a:prstGeom prst="roundRect">
            <a:avLst>
              <a:gd name="adj" fmla="val 1975"/>
            </a:avLst>
          </a:prstGeom>
          <a:solidFill>
            <a:srgbClr val="FFFFFF"/>
          </a:solidFill>
          <a:ln/>
          <a:effectLst>
            <a:outerShdw sx="100000" sy="100000" kx="0" ky="0" algn="bl" rotWithShape="0" blurRad="101600" dist="38100" dir="8100000">
              <a:srgbClr val="0A1F44">
                <a:alpha val="16000"/>
              </a:srgbClr>
            </a:outerShdw>
          </a:effectLst>
        </p:spPr>
      </p:sp>
      <p:sp>
        <p:nvSpPr>
          <p:cNvPr id="9" name="Shape 7"/>
          <p:cNvSpPr/>
          <p:nvPr/>
        </p:nvSpPr>
        <p:spPr>
          <a:xfrm>
            <a:off x="4434840" y="1783080"/>
            <a:ext cx="3703320" cy="502920"/>
          </a:xfrm>
          <a:prstGeom prst="rect">
            <a:avLst/>
          </a:prstGeom>
          <a:solidFill>
            <a:srgbClr val="E65100"/>
          </a:solidFill>
          <a:ln/>
        </p:spPr>
      </p:sp>
      <p:sp>
        <p:nvSpPr>
          <p:cNvPr id="10" name="Text 8"/>
          <p:cNvSpPr/>
          <p:nvPr/>
        </p:nvSpPr>
        <p:spPr>
          <a:xfrm>
            <a:off x="4617720" y="1783080"/>
            <a:ext cx="3520440" cy="502920"/>
          </a:xfrm>
          <a:prstGeom prst="rect">
            <a:avLst/>
          </a:prstGeom>
          <a:noFill/>
          <a:ln/>
        </p:spPr>
        <p:txBody>
          <a:bodyPr wrap="square" lIns="0" tIns="0" rIns="0" bIns="0" rtlCol="0" anchor="ctr"/>
          <a:lstStyle/>
          <a:p>
            <a:pPr indent="0" marL="0">
              <a:buNone/>
            </a:pPr>
            <a:r>
              <a:rPr lang="en-US" sz="1400" b="1" dirty="0">
                <a:solidFill>
                  <a:srgbClr val="FFFFFF"/>
                </a:solidFill>
              </a:rPr>
              <a:t>Honest limitations</a:t>
            </a:r>
            <a:endParaRPr lang="en-US" sz="1400" dirty="0"/>
          </a:p>
        </p:txBody>
      </p:sp>
      <p:sp>
        <p:nvSpPr>
          <p:cNvPr id="11" name="Text 9"/>
          <p:cNvSpPr/>
          <p:nvPr/>
        </p:nvSpPr>
        <p:spPr>
          <a:xfrm>
            <a:off x="4617720" y="2468880"/>
            <a:ext cx="3383280" cy="3657600"/>
          </a:xfrm>
          <a:prstGeom prst="rect">
            <a:avLst/>
          </a:prstGeom>
          <a:noFill/>
          <a:ln/>
        </p:spPr>
        <p:txBody>
          <a:bodyPr wrap="square" lIns="0" tIns="0" rIns="0" bIns="0" rtlCol="0" anchor="t"/>
          <a:lstStyle/>
          <a:p>
            <a:pPr marL="342900" indent="-342900">
              <a:spcAft>
                <a:spcPts val="1400"/>
              </a:spcAft>
              <a:buSzPct val="100000"/>
              <a:buChar char="•"/>
            </a:pPr>
            <a:r>
              <a:rPr lang="en-US" sz="1150" dirty="0">
                <a:solidFill>
                  <a:srgbClr val="1A2332"/>
                </a:solidFill>
              </a:rPr>
              <a:t>Lag-driven — strong for existing stores, not for new ones</a:t>
            </a:r>
            <a:endParaRPr lang="en-US" sz="1150" dirty="0"/>
          </a:p>
          <a:p>
            <a:pPr marL="342900" indent="-342900">
              <a:spcAft>
                <a:spcPts val="1400"/>
              </a:spcAft>
              <a:buSzPct val="100000"/>
              <a:buChar char="•"/>
            </a:pPr>
            <a:r>
              <a:rPr lang="en-US" sz="1150" dirty="0">
                <a:solidFill>
                  <a:srgbClr val="1A2332"/>
                </a:solidFill>
              </a:rPr>
              <a:t>Week-ahead scoring (no recursive multi-week forecasting yet)</a:t>
            </a:r>
            <a:endParaRPr lang="en-US" sz="1150" dirty="0"/>
          </a:p>
          <a:p>
            <a:pPr marL="342900" indent="-342900">
              <a:spcAft>
                <a:spcPts val="1400"/>
              </a:spcAft>
              <a:buSzPct val="100000"/>
              <a:buChar char="•"/>
            </a:pPr>
            <a:r>
              <a:rPr lang="en-US" sz="1150" dirty="0">
                <a:solidFill>
                  <a:srgbClr val="1A2332"/>
                </a:solidFill>
              </a:rPr>
              <a:t>Role thresholds are heuristic (quantile-based)</a:t>
            </a:r>
            <a:endParaRPr lang="en-US" sz="1150" dirty="0"/>
          </a:p>
          <a:p>
            <a:pPr marL="342900" indent="-342900">
              <a:spcAft>
                <a:spcPts val="1400"/>
              </a:spcAft>
              <a:buSzPct val="100000"/>
              <a:buChar char="•"/>
            </a:pPr>
            <a:r>
              <a:rPr lang="en-US" sz="1150" dirty="0">
                <a:solidFill>
                  <a:srgbClr val="1A2332"/>
                </a:solidFill>
              </a:rPr>
              <a:t>Demographics are annual snapshots; intra-year shifts missed</a:t>
            </a:r>
            <a:endParaRPr lang="en-US" sz="1150" dirty="0"/>
          </a:p>
          <a:p>
            <a:pPr marL="342900" indent="-342900">
              <a:spcAft>
                <a:spcPts val="1400"/>
              </a:spcAft>
              <a:buSzPct val="100000"/>
              <a:buChar char="•"/>
            </a:pPr>
            <a:r>
              <a:rPr lang="en-US" sz="1150" dirty="0">
                <a:solidFill>
                  <a:srgbClr val="1A2332"/>
                </a:solidFill>
              </a:rPr>
              <a:t>No event / promo calendar integrated yet</a:t>
            </a:r>
            <a:endParaRPr lang="en-US" sz="1150" dirty="0"/>
          </a:p>
        </p:txBody>
      </p:sp>
      <p:sp>
        <p:nvSpPr>
          <p:cNvPr id="12" name="Shape 10"/>
          <p:cNvSpPr/>
          <p:nvPr/>
        </p:nvSpPr>
        <p:spPr>
          <a:xfrm>
            <a:off x="8321040" y="1783080"/>
            <a:ext cx="3337560" cy="4434840"/>
          </a:xfrm>
          <a:prstGeom prst="roundRect">
            <a:avLst>
              <a:gd name="adj" fmla="val 2192"/>
            </a:avLst>
          </a:prstGeom>
          <a:solidFill>
            <a:srgbClr val="FFFFFF"/>
          </a:solidFill>
          <a:ln/>
          <a:effectLst>
            <a:outerShdw sx="100000" sy="100000" kx="0" ky="0" algn="bl" rotWithShape="0" blurRad="101600" dist="38100" dir="8100000">
              <a:srgbClr val="0A1F44">
                <a:alpha val="16000"/>
              </a:srgbClr>
            </a:outerShdw>
          </a:effectLst>
        </p:spPr>
      </p:sp>
      <p:sp>
        <p:nvSpPr>
          <p:cNvPr id="13" name="Shape 11"/>
          <p:cNvSpPr/>
          <p:nvPr/>
        </p:nvSpPr>
        <p:spPr>
          <a:xfrm>
            <a:off x="8321040" y="1783080"/>
            <a:ext cx="3337560" cy="502920"/>
          </a:xfrm>
          <a:prstGeom prst="rect">
            <a:avLst/>
          </a:prstGeom>
          <a:solidFill>
            <a:srgbClr val="0277BD"/>
          </a:solidFill>
          <a:ln/>
        </p:spPr>
      </p:sp>
      <p:sp>
        <p:nvSpPr>
          <p:cNvPr id="14" name="Text 12"/>
          <p:cNvSpPr/>
          <p:nvPr/>
        </p:nvSpPr>
        <p:spPr>
          <a:xfrm>
            <a:off x="8503920" y="1783080"/>
            <a:ext cx="3154680" cy="502920"/>
          </a:xfrm>
          <a:prstGeom prst="rect">
            <a:avLst/>
          </a:prstGeom>
          <a:noFill/>
          <a:ln/>
        </p:spPr>
        <p:txBody>
          <a:bodyPr wrap="square" lIns="0" tIns="0" rIns="0" bIns="0" rtlCol="0" anchor="ctr"/>
          <a:lstStyle/>
          <a:p>
            <a:pPr indent="0" marL="0">
              <a:buNone/>
            </a:pPr>
            <a:r>
              <a:rPr lang="en-US" sz="1400" b="1" dirty="0">
                <a:solidFill>
                  <a:srgbClr val="FFFFFF"/>
                </a:solidFill>
              </a:rPr>
              <a:t>What's next</a:t>
            </a:r>
            <a:endParaRPr lang="en-US" sz="1400" dirty="0"/>
          </a:p>
        </p:txBody>
      </p:sp>
      <p:sp>
        <p:nvSpPr>
          <p:cNvPr id="15" name="Text 13"/>
          <p:cNvSpPr/>
          <p:nvPr/>
        </p:nvSpPr>
        <p:spPr>
          <a:xfrm>
            <a:off x="8503920" y="2468880"/>
            <a:ext cx="3063240" cy="3657600"/>
          </a:xfrm>
          <a:prstGeom prst="rect">
            <a:avLst/>
          </a:prstGeom>
          <a:noFill/>
          <a:ln/>
        </p:spPr>
        <p:txBody>
          <a:bodyPr wrap="square" lIns="0" tIns="0" rIns="0" bIns="0" rtlCol="0" anchor="t"/>
          <a:lstStyle/>
          <a:p>
            <a:pPr marL="342900" indent="-342900">
              <a:spcAft>
                <a:spcPts val="1400"/>
              </a:spcAft>
              <a:buSzPct val="100000"/>
              <a:buChar char="•"/>
            </a:pPr>
            <a:r>
              <a:rPr lang="en-US" sz="1150" dirty="0">
                <a:solidFill>
                  <a:srgbClr val="1A2332"/>
                </a:solidFill>
              </a:rPr>
              <a:t>Recursive multi-week forecasting for full-year targets</a:t>
            </a:r>
            <a:endParaRPr lang="en-US" sz="1150" dirty="0"/>
          </a:p>
          <a:p>
            <a:pPr marL="342900" indent="-342900">
              <a:spcAft>
                <a:spcPts val="1400"/>
              </a:spcAft>
              <a:buSzPct val="100000"/>
              <a:buChar char="•"/>
            </a:pPr>
            <a:r>
              <a:rPr lang="en-US" sz="1150" dirty="0">
                <a:solidFill>
                  <a:srgbClr val="1A2332"/>
                </a:solidFill>
              </a:rPr>
              <a:t>Cold-start model for new stores (no lag history)</a:t>
            </a:r>
            <a:endParaRPr lang="en-US" sz="1150" dirty="0"/>
          </a:p>
          <a:p>
            <a:pPr marL="342900" indent="-342900">
              <a:spcAft>
                <a:spcPts val="1400"/>
              </a:spcAft>
              <a:buSzPct val="100000"/>
              <a:buChar char="•"/>
            </a:pPr>
            <a:r>
              <a:rPr lang="en-US" sz="1150" dirty="0">
                <a:solidFill>
                  <a:srgbClr val="1A2332"/>
                </a:solidFill>
              </a:rPr>
              <a:t>Constrained optimization → store sums equal division plan</a:t>
            </a:r>
            <a:endParaRPr lang="en-US" sz="1150" dirty="0"/>
          </a:p>
          <a:p>
            <a:pPr marL="342900" indent="-342900">
              <a:spcAft>
                <a:spcPts val="1400"/>
              </a:spcAft>
              <a:buSzPct val="100000"/>
              <a:buChar char="•"/>
            </a:pPr>
            <a:r>
              <a:rPr lang="en-US" sz="1150" dirty="0">
                <a:solidFill>
                  <a:srgbClr val="1A2332"/>
                </a:solidFill>
              </a:rPr>
              <a:t>Pilot West Division → measure override drop → scale</a:t>
            </a:r>
            <a:endParaRPr lang="en-US" sz="1150" dirty="0"/>
          </a:p>
        </p:txBody>
      </p:sp>
      <p:sp>
        <p:nvSpPr>
          <p:cNvPr id="16" name="Shape 14"/>
          <p:cNvSpPr/>
          <p:nvPr/>
        </p:nvSpPr>
        <p:spPr>
          <a:xfrm>
            <a:off x="0" y="6565392"/>
            <a:ext cx="12191695" cy="292608"/>
          </a:xfrm>
          <a:prstGeom prst="rect">
            <a:avLst/>
          </a:prstGeom>
          <a:solidFill>
            <a:srgbClr val="003087"/>
          </a:solidFill>
          <a:ln/>
        </p:spPr>
      </p:sp>
      <p:sp>
        <p:nvSpPr>
          <p:cNvPr id="17" name="Text 15"/>
          <p:cNvSpPr/>
          <p:nvPr/>
        </p:nvSpPr>
        <p:spPr>
          <a:xfrm>
            <a:off x="457200" y="6565392"/>
            <a:ext cx="6400800" cy="292608"/>
          </a:xfrm>
          <a:prstGeom prst="rect">
            <a:avLst/>
          </a:prstGeom>
          <a:noFill/>
          <a:ln/>
        </p:spPr>
        <p:txBody>
          <a:bodyPr wrap="square" lIns="0" tIns="0" rIns="0" bIns="0" rtlCol="0" anchor="ctr"/>
          <a:lstStyle/>
          <a:p>
            <a:pPr indent="0" marL="0">
              <a:buNone/>
            </a:pPr>
            <a:r>
              <a:rPr lang="en-US" sz="900" dirty="0">
                <a:solidFill>
                  <a:srgbClr val="CADCFC"/>
                </a:solidFill>
              </a:rPr>
              <a:t>Capstone 8 · Group 8 · IIM Calcutta APAL02</a:t>
            </a:r>
            <a:endParaRPr lang="en-US" sz="900" dirty="0"/>
          </a:p>
        </p:txBody>
      </p:sp>
      <p:sp>
        <p:nvSpPr>
          <p:cNvPr id="18" name="Text 16"/>
          <p:cNvSpPr/>
          <p:nvPr/>
        </p:nvSpPr>
        <p:spPr>
          <a:xfrm>
            <a:off x="11094415" y="6565392"/>
            <a:ext cx="822960" cy="292608"/>
          </a:xfrm>
          <a:prstGeom prst="rect">
            <a:avLst/>
          </a:prstGeom>
          <a:noFill/>
          <a:ln/>
        </p:spPr>
        <p:txBody>
          <a:bodyPr wrap="square" lIns="0" tIns="0" rIns="0" bIns="0" rtlCol="0" anchor="ctr"/>
          <a:lstStyle/>
          <a:p>
            <a:pPr algn="r" indent="0" marL="0">
              <a:buNone/>
            </a:pPr>
            <a:r>
              <a:rPr lang="en-US" sz="900" dirty="0">
                <a:solidFill>
                  <a:srgbClr val="CADCFC"/>
                </a:solidFill>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4B400"/>
          </a:solidFill>
          <a:ln/>
        </p:spPr>
      </p:sp>
      <p:sp>
        <p:nvSpPr>
          <p:cNvPr id="3" name="Shape 1"/>
          <p:cNvSpPr/>
          <p:nvPr/>
        </p:nvSpPr>
        <p:spPr>
          <a:xfrm>
            <a:off x="-1828800" y="3657600"/>
            <a:ext cx="5029200" cy="5029200"/>
          </a:xfrm>
          <a:prstGeom prst="ellipse">
            <a:avLst/>
          </a:prstGeom>
          <a:solidFill>
            <a:srgbClr val="012A6E"/>
          </a:solidFill>
          <a:ln/>
        </p:spPr>
      </p:sp>
      <p:sp>
        <p:nvSpPr>
          <p:cNvPr id="4" name="Text 2"/>
          <p:cNvSpPr/>
          <p:nvPr/>
        </p:nvSpPr>
        <p:spPr>
          <a:xfrm>
            <a:off x="731520" y="1463040"/>
            <a:ext cx="8229600" cy="10058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Thank You</a:t>
            </a:r>
            <a:endParaRPr lang="en-US" sz="5600" dirty="0"/>
          </a:p>
        </p:txBody>
      </p:sp>
      <p:sp>
        <p:nvSpPr>
          <p:cNvPr id="5" name="Text 3"/>
          <p:cNvSpPr/>
          <p:nvPr/>
        </p:nvSpPr>
        <p:spPr>
          <a:xfrm>
            <a:off x="731520" y="2606040"/>
            <a:ext cx="10058400" cy="457200"/>
          </a:xfrm>
          <a:prstGeom prst="rect">
            <a:avLst/>
          </a:prstGeom>
          <a:noFill/>
          <a:ln/>
        </p:spPr>
        <p:txBody>
          <a:bodyPr wrap="square" lIns="0" tIns="0" rIns="0" bIns="0" rtlCol="0" anchor="ctr"/>
          <a:lstStyle/>
          <a:p>
            <a:pPr indent="0" marL="0">
              <a:buNone/>
            </a:pPr>
            <a:r>
              <a:rPr lang="en-US" sz="1900" i="1" dirty="0">
                <a:solidFill>
                  <a:srgbClr val="F4B400"/>
                </a:solidFill>
              </a:rPr>
              <a:t>Questions &amp; discussion welcome</a:t>
            </a:r>
            <a:endParaRPr lang="en-US" sz="1900" dirty="0"/>
          </a:p>
        </p:txBody>
      </p:sp>
      <p:sp>
        <p:nvSpPr>
          <p:cNvPr id="6" name="Text 4"/>
          <p:cNvSpPr/>
          <p:nvPr/>
        </p:nvSpPr>
        <p:spPr>
          <a:xfrm>
            <a:off x="731520" y="3154680"/>
            <a:ext cx="10515600" cy="640080"/>
          </a:xfrm>
          <a:prstGeom prst="rect">
            <a:avLst/>
          </a:prstGeom>
          <a:noFill/>
          <a:ln/>
        </p:spPr>
        <p:txBody>
          <a:bodyPr wrap="square" lIns="0" tIns="0" rIns="0" bIns="0" rtlCol="0" anchor="ctr"/>
          <a:lstStyle/>
          <a:p>
            <a:pPr indent="0" marL="0">
              <a:buNone/>
            </a:pPr>
            <a:r>
              <a:rPr lang="en-US" sz="1500" i="1" dirty="0">
                <a:solidFill>
                  <a:srgbClr val="CADCFC"/>
                </a:solidFill>
              </a:rPr>
              <a:t>From a flat heuristic → a transparent, store-specific, validated ML targeting system.</a:t>
            </a:r>
            <a:endParaRPr lang="en-US" sz="1500" dirty="0"/>
          </a:p>
        </p:txBody>
      </p:sp>
      <p:sp>
        <p:nvSpPr>
          <p:cNvPr id="7" name="Shape 5"/>
          <p:cNvSpPr/>
          <p:nvPr/>
        </p:nvSpPr>
        <p:spPr>
          <a:xfrm>
            <a:off x="731520" y="4114800"/>
            <a:ext cx="2560320" cy="1554480"/>
          </a:xfrm>
          <a:prstGeom prst="roundRect">
            <a:avLst>
              <a:gd name="adj" fmla="val 5882"/>
            </a:avLst>
          </a:prstGeom>
          <a:solidFill>
            <a:srgbClr val="012A6E"/>
          </a:solidFill>
          <a:ln w="19050">
            <a:solidFill>
              <a:srgbClr val="F4B400"/>
            </a:solidFill>
            <a:prstDash val="solid"/>
          </a:ln>
        </p:spPr>
      </p:sp>
      <p:sp>
        <p:nvSpPr>
          <p:cNvPr id="8" name="Text 6"/>
          <p:cNvSpPr/>
          <p:nvPr/>
        </p:nvSpPr>
        <p:spPr>
          <a:xfrm>
            <a:off x="731520" y="4343400"/>
            <a:ext cx="2560320" cy="777240"/>
          </a:xfrm>
          <a:prstGeom prst="rect">
            <a:avLst/>
          </a:prstGeom>
          <a:noFill/>
          <a:ln/>
        </p:spPr>
        <p:txBody>
          <a:bodyPr wrap="square" lIns="0" tIns="0" rIns="0" bIns="0" rtlCol="0" anchor="ctr"/>
          <a:lstStyle/>
          <a:p>
            <a:pPr algn="ctr" indent="0" marL="0">
              <a:buNone/>
            </a:pPr>
            <a:r>
              <a:rPr lang="en-US" sz="3200" b="1" dirty="0">
                <a:solidFill>
                  <a:srgbClr val="F4B400"/>
                </a:solidFill>
              </a:rPr>
              <a:t>7.05%</a:t>
            </a:r>
            <a:endParaRPr lang="en-US" sz="3200" dirty="0"/>
          </a:p>
        </p:txBody>
      </p:sp>
      <p:sp>
        <p:nvSpPr>
          <p:cNvPr id="9" name="Text 7"/>
          <p:cNvSpPr/>
          <p:nvPr/>
        </p:nvSpPr>
        <p:spPr>
          <a:xfrm>
            <a:off x="731520" y="5120640"/>
            <a:ext cx="2560320" cy="411480"/>
          </a:xfrm>
          <a:prstGeom prst="rect">
            <a:avLst/>
          </a:prstGeom>
          <a:noFill/>
          <a:ln/>
        </p:spPr>
        <p:txBody>
          <a:bodyPr wrap="square" lIns="0" tIns="0" rIns="0" bIns="0" rtlCol="0" anchor="ctr"/>
          <a:lstStyle/>
          <a:p>
            <a:pPr algn="ctr" indent="0" marL="0">
              <a:buNone/>
            </a:pPr>
            <a:r>
              <a:rPr lang="en-US" sz="1400" b="1" dirty="0">
                <a:solidFill>
                  <a:srgbClr val="FFFFFF"/>
                </a:solidFill>
              </a:rPr>
              <a:t>WAPE</a:t>
            </a:r>
            <a:endParaRPr lang="en-US" sz="1400" dirty="0"/>
          </a:p>
        </p:txBody>
      </p:sp>
      <p:sp>
        <p:nvSpPr>
          <p:cNvPr id="10" name="Shape 8"/>
          <p:cNvSpPr/>
          <p:nvPr/>
        </p:nvSpPr>
        <p:spPr>
          <a:xfrm>
            <a:off x="3520440" y="4114800"/>
            <a:ext cx="2560320" cy="1554480"/>
          </a:xfrm>
          <a:prstGeom prst="roundRect">
            <a:avLst>
              <a:gd name="adj" fmla="val 5882"/>
            </a:avLst>
          </a:prstGeom>
          <a:solidFill>
            <a:srgbClr val="012A6E"/>
          </a:solidFill>
          <a:ln w="19050">
            <a:solidFill>
              <a:srgbClr val="F4B400"/>
            </a:solidFill>
            <a:prstDash val="solid"/>
          </a:ln>
        </p:spPr>
      </p:sp>
      <p:sp>
        <p:nvSpPr>
          <p:cNvPr id="11" name="Text 9"/>
          <p:cNvSpPr/>
          <p:nvPr/>
        </p:nvSpPr>
        <p:spPr>
          <a:xfrm>
            <a:off x="3520440" y="4343400"/>
            <a:ext cx="2560320" cy="777240"/>
          </a:xfrm>
          <a:prstGeom prst="rect">
            <a:avLst/>
          </a:prstGeom>
          <a:noFill/>
          <a:ln/>
        </p:spPr>
        <p:txBody>
          <a:bodyPr wrap="square" lIns="0" tIns="0" rIns="0" bIns="0" rtlCol="0" anchor="ctr"/>
          <a:lstStyle/>
          <a:p>
            <a:pPr algn="ctr" indent="0" marL="0">
              <a:buNone/>
            </a:pPr>
            <a:r>
              <a:rPr lang="en-US" sz="3200" b="1" dirty="0">
                <a:solidFill>
                  <a:srgbClr val="F4B400"/>
                </a:solidFill>
              </a:rPr>
              <a:t>−0.97%</a:t>
            </a:r>
            <a:endParaRPr lang="en-US" sz="3200" dirty="0"/>
          </a:p>
        </p:txBody>
      </p:sp>
      <p:sp>
        <p:nvSpPr>
          <p:cNvPr id="12" name="Text 10"/>
          <p:cNvSpPr/>
          <p:nvPr/>
        </p:nvSpPr>
        <p:spPr>
          <a:xfrm>
            <a:off x="3520440" y="5120640"/>
            <a:ext cx="2560320" cy="411480"/>
          </a:xfrm>
          <a:prstGeom prst="rect">
            <a:avLst/>
          </a:prstGeom>
          <a:noFill/>
          <a:ln/>
        </p:spPr>
        <p:txBody>
          <a:bodyPr wrap="square" lIns="0" tIns="0" rIns="0" bIns="0" rtlCol="0" anchor="ctr"/>
          <a:lstStyle/>
          <a:p>
            <a:pPr algn="ctr" indent="0" marL="0">
              <a:buNone/>
            </a:pPr>
            <a:r>
              <a:rPr lang="en-US" sz="1400" b="1" dirty="0">
                <a:solidFill>
                  <a:srgbClr val="FFFFFF"/>
                </a:solidFill>
              </a:rPr>
              <a:t>Bias</a:t>
            </a:r>
            <a:endParaRPr lang="en-US" sz="1400" dirty="0"/>
          </a:p>
        </p:txBody>
      </p:sp>
      <p:sp>
        <p:nvSpPr>
          <p:cNvPr id="13" name="Shape 11"/>
          <p:cNvSpPr/>
          <p:nvPr/>
        </p:nvSpPr>
        <p:spPr>
          <a:xfrm>
            <a:off x="6309360" y="4114800"/>
            <a:ext cx="2560320" cy="1554480"/>
          </a:xfrm>
          <a:prstGeom prst="roundRect">
            <a:avLst>
              <a:gd name="adj" fmla="val 5882"/>
            </a:avLst>
          </a:prstGeom>
          <a:solidFill>
            <a:srgbClr val="012A6E"/>
          </a:solidFill>
          <a:ln w="19050">
            <a:solidFill>
              <a:srgbClr val="F4B400"/>
            </a:solidFill>
            <a:prstDash val="solid"/>
          </a:ln>
        </p:spPr>
      </p:sp>
      <p:sp>
        <p:nvSpPr>
          <p:cNvPr id="14" name="Text 12"/>
          <p:cNvSpPr/>
          <p:nvPr/>
        </p:nvSpPr>
        <p:spPr>
          <a:xfrm>
            <a:off x="6309360" y="4343400"/>
            <a:ext cx="2560320" cy="777240"/>
          </a:xfrm>
          <a:prstGeom prst="rect">
            <a:avLst/>
          </a:prstGeom>
          <a:noFill/>
          <a:ln/>
        </p:spPr>
        <p:txBody>
          <a:bodyPr wrap="square" lIns="0" tIns="0" rIns="0" bIns="0" rtlCol="0" anchor="ctr"/>
          <a:lstStyle/>
          <a:p>
            <a:pPr algn="ctr" indent="0" marL="0">
              <a:buNone/>
            </a:pPr>
            <a:r>
              <a:rPr lang="en-US" sz="3200" b="1" dirty="0">
                <a:solidFill>
                  <a:srgbClr val="F4B400"/>
                </a:solidFill>
              </a:rPr>
              <a:t>94.7%</a:t>
            </a:r>
            <a:endParaRPr lang="en-US" sz="3200" dirty="0"/>
          </a:p>
        </p:txBody>
      </p:sp>
      <p:sp>
        <p:nvSpPr>
          <p:cNvPr id="15" name="Text 13"/>
          <p:cNvSpPr/>
          <p:nvPr/>
        </p:nvSpPr>
        <p:spPr>
          <a:xfrm>
            <a:off x="6309360" y="5120640"/>
            <a:ext cx="2560320" cy="411480"/>
          </a:xfrm>
          <a:prstGeom prst="rect">
            <a:avLst/>
          </a:prstGeom>
          <a:noFill/>
          <a:ln/>
        </p:spPr>
        <p:txBody>
          <a:bodyPr wrap="square" lIns="0" tIns="0" rIns="0" bIns="0" rtlCol="0" anchor="ctr"/>
          <a:lstStyle/>
          <a:p>
            <a:pPr algn="ctr" indent="0" marL="0">
              <a:buNone/>
            </a:pPr>
            <a:r>
              <a:rPr lang="en-US" sz="1400" b="1" dirty="0">
                <a:solidFill>
                  <a:srgbClr val="FFFFFF"/>
                </a:solidFill>
              </a:rPr>
              <a:t>Calibrated</a:t>
            </a:r>
            <a:endParaRPr lang="en-US" sz="1400" dirty="0"/>
          </a:p>
        </p:txBody>
      </p:sp>
      <p:sp>
        <p:nvSpPr>
          <p:cNvPr id="16" name="Shape 14"/>
          <p:cNvSpPr/>
          <p:nvPr/>
        </p:nvSpPr>
        <p:spPr>
          <a:xfrm>
            <a:off x="9098280" y="4114800"/>
            <a:ext cx="2560320" cy="1554480"/>
          </a:xfrm>
          <a:prstGeom prst="roundRect">
            <a:avLst>
              <a:gd name="adj" fmla="val 5882"/>
            </a:avLst>
          </a:prstGeom>
          <a:solidFill>
            <a:srgbClr val="012A6E"/>
          </a:solidFill>
          <a:ln w="19050">
            <a:solidFill>
              <a:srgbClr val="F4B400"/>
            </a:solidFill>
            <a:prstDash val="solid"/>
          </a:ln>
        </p:spPr>
      </p:sp>
      <p:sp>
        <p:nvSpPr>
          <p:cNvPr id="17" name="Text 15"/>
          <p:cNvSpPr/>
          <p:nvPr/>
        </p:nvSpPr>
        <p:spPr>
          <a:xfrm>
            <a:off x="9098280" y="4343400"/>
            <a:ext cx="2560320" cy="777240"/>
          </a:xfrm>
          <a:prstGeom prst="rect">
            <a:avLst/>
          </a:prstGeom>
          <a:noFill/>
          <a:ln/>
        </p:spPr>
        <p:txBody>
          <a:bodyPr wrap="square" lIns="0" tIns="0" rIns="0" bIns="0" rtlCol="0" anchor="ctr"/>
          <a:lstStyle/>
          <a:p>
            <a:pPr algn="ctr" indent="0" marL="0">
              <a:buNone/>
            </a:pPr>
            <a:r>
              <a:rPr lang="en-US" sz="3200" b="1" dirty="0">
                <a:solidFill>
                  <a:srgbClr val="F4B400"/>
                </a:solidFill>
              </a:rPr>
              <a:t>95%</a:t>
            </a:r>
            <a:endParaRPr lang="en-US" sz="3200" dirty="0"/>
          </a:p>
        </p:txBody>
      </p:sp>
      <p:sp>
        <p:nvSpPr>
          <p:cNvPr id="18" name="Text 16"/>
          <p:cNvSpPr/>
          <p:nvPr/>
        </p:nvSpPr>
        <p:spPr>
          <a:xfrm>
            <a:off x="9098280" y="5120640"/>
            <a:ext cx="2560320" cy="411480"/>
          </a:xfrm>
          <a:prstGeom prst="rect">
            <a:avLst/>
          </a:prstGeom>
          <a:noFill/>
          <a:ln/>
        </p:spPr>
        <p:txBody>
          <a:bodyPr wrap="square" lIns="0" tIns="0" rIns="0" bIns="0" rtlCol="0" anchor="ctr"/>
          <a:lstStyle/>
          <a:p>
            <a:pPr algn="ctr" indent="0" marL="0">
              <a:buNone/>
            </a:pPr>
            <a:r>
              <a:rPr lang="en-US" sz="1400" b="1" dirty="0">
                <a:solidFill>
                  <a:srgbClr val="FFFFFF"/>
                </a:solidFill>
              </a:rPr>
              <a:t>Workload Drop</a:t>
            </a:r>
            <a:endParaRPr lang="en-US" sz="1400" dirty="0"/>
          </a:p>
        </p:txBody>
      </p:sp>
      <p:sp>
        <p:nvSpPr>
          <p:cNvPr id="19" name="Text 17"/>
          <p:cNvSpPr/>
          <p:nvPr/>
        </p:nvSpPr>
        <p:spPr>
          <a:xfrm>
            <a:off x="731520" y="6035040"/>
            <a:ext cx="10972800" cy="365760"/>
          </a:xfrm>
          <a:prstGeom prst="rect">
            <a:avLst/>
          </a:prstGeom>
          <a:noFill/>
          <a:ln/>
        </p:spPr>
        <p:txBody>
          <a:bodyPr wrap="square" lIns="0" tIns="0" rIns="0" bIns="0" rtlCol="0" anchor="ctr"/>
          <a:lstStyle/>
          <a:p>
            <a:pPr indent="0" marL="0">
              <a:buNone/>
            </a:pPr>
            <a:r>
              <a:rPr lang="en-US" sz="1200" i="1" dirty="0">
                <a:solidFill>
                  <a:srgbClr val="CADCFC"/>
                </a:solidFill>
              </a:rPr>
              <a:t>IIM Calcutta  ·  Capstone 8  ·  Group 8   |   github.com/nishthaspeakx/capstone_8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Lowe's Store-Level Sales Target — Demo Deck</dc:title>
  <dc:subject>PptxGenJS Presentation</dc:subject>
  <dc:creator>Group 8 — IIM Calcutta APAL02</dc:creator>
  <cp:lastModifiedBy>Group 8 — IIM Calcutta APAL02</cp:lastModifiedBy>
  <cp:revision>1</cp:revision>
  <dcterms:created xsi:type="dcterms:W3CDTF">2026-06-14T14:08:51Z</dcterms:created>
  <dcterms:modified xsi:type="dcterms:W3CDTF">2026-06-14T14:08:51Z</dcterms:modified>
</cp:coreProperties>
</file>